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slides/charts/chart1.xml" ContentType="application/vnd.openxmlformats-officedocument.drawingml.chart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475ae06ed5c4c03" /><Relationship Type="http://schemas.openxmlformats.org/officeDocument/2006/relationships/extended-properties" Target="/docProps/app.xml" Id="Re212cfff320b469f" /><Relationship Type="http://schemas.openxmlformats.org/officeDocument/2006/relationships/officeDocument" Target="/ppt/presentation.xml" Id="R2534025dd535454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2e533f3e6cc4b9a"/>
  </p:sldMasterIdLst>
  <p:notesMasterIdLst>
    <p:notesMasterId xmlns:r="http://schemas.openxmlformats.org/officeDocument/2006/relationships" r:id="R007bfedae51c46e0"/>
  </p:notesMasterIdLst>
  <p:sldIdLst>
    <p:sldId xmlns:r="http://schemas.openxmlformats.org/officeDocument/2006/relationships" id="256" r:id="R185cf2084eec49ad"/>
    <p:sldId xmlns:r="http://schemas.openxmlformats.org/officeDocument/2006/relationships" id="257" r:id="R320e3e8674f64c1b"/>
    <p:sldId xmlns:r="http://schemas.openxmlformats.org/officeDocument/2006/relationships" id="258" r:id="R8fa955f8c98f476d"/>
    <p:sldId xmlns:r="http://schemas.openxmlformats.org/officeDocument/2006/relationships" id="259" r:id="R1715730d4a2d4373"/>
    <p:sldId xmlns:r="http://schemas.openxmlformats.org/officeDocument/2006/relationships" id="260" r:id="R8b528ba9dc2845ac"/>
    <p:sldId xmlns:r="http://schemas.openxmlformats.org/officeDocument/2006/relationships" id="261" r:id="R2b035f8fddbf4d23"/>
    <p:sldId xmlns:r="http://schemas.openxmlformats.org/officeDocument/2006/relationships" id="262" r:id="R243805e724644606"/>
    <p:sldId xmlns:r="http://schemas.openxmlformats.org/officeDocument/2006/relationships" id="263" r:id="Rd0294945157046df"/>
    <p:sldId xmlns:r="http://schemas.openxmlformats.org/officeDocument/2006/relationships" id="264" r:id="R9db4f9b5d8d343bb"/>
    <p:sldId xmlns:r="http://schemas.openxmlformats.org/officeDocument/2006/relationships" id="265" r:id="Rc0ca85a049594b33"/>
    <p:sldId xmlns:r="http://schemas.openxmlformats.org/officeDocument/2006/relationships" id="266" r:id="Rf8af45eeccef495b"/>
    <p:sldId xmlns:r="http://schemas.openxmlformats.org/officeDocument/2006/relationships" id="267" r:id="Rbae446a820684372"/>
    <p:sldId xmlns:r="http://schemas.openxmlformats.org/officeDocument/2006/relationships" id="268" r:id="R21fe4d3e72324744"/>
    <p:sldId xmlns:r="http://schemas.openxmlformats.org/officeDocument/2006/relationships" id="269" r:id="R324c8fe6720d487e"/>
    <p:sldId xmlns:r="http://schemas.openxmlformats.org/officeDocument/2006/relationships" id="270" r:id="R753335cdb02f422d"/>
    <p:sldId xmlns:r="http://schemas.openxmlformats.org/officeDocument/2006/relationships" id="271" r:id="R1cfe26dcb8a54c1c"/>
    <p:sldId xmlns:r="http://schemas.openxmlformats.org/officeDocument/2006/relationships" id="272" r:id="Rcd8f4ddfd9e34d6d"/>
    <p:sldId xmlns:r="http://schemas.openxmlformats.org/officeDocument/2006/relationships" id="273" r:id="R3f05f2a2d08947d2"/>
    <p:sldId xmlns:r="http://schemas.openxmlformats.org/officeDocument/2006/relationships" id="274" r:id="R17125662e97340de"/>
    <p:sldId xmlns:r="http://schemas.openxmlformats.org/officeDocument/2006/relationships" id="275" r:id="Rd8fa9a923e3a48ec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cc8d64060a24523" /><Relationship Type="http://schemas.openxmlformats.org/officeDocument/2006/relationships/slideMaster" Target="/ppt/slideMasters/slideMaster1.xml" Id="R02e533f3e6cc4b9a" /><Relationship Type="http://schemas.openxmlformats.org/officeDocument/2006/relationships/notesMaster" Target="/ppt/notesMasters/notesMaster1.xml" Id="R007bfedae51c46e0" /><Relationship Type="http://schemas.openxmlformats.org/officeDocument/2006/relationships/presProps" Target="/ppt/presProps.xml" Id="R60f0748872c7461d" /><Relationship Type="http://schemas.openxmlformats.org/officeDocument/2006/relationships/tableStyles" Target="/ppt/tableStyles.xml" Id="R62e4b1d087794a2b" /><Relationship Type="http://schemas.openxmlformats.org/officeDocument/2006/relationships/slide" Target="/ppt/slides/slide1.xml" Id="R185cf2084eec49ad" /><Relationship Type="http://schemas.openxmlformats.org/officeDocument/2006/relationships/slide" Target="/ppt/slides/slide2.xml" Id="R320e3e8674f64c1b" /><Relationship Type="http://schemas.openxmlformats.org/officeDocument/2006/relationships/slide" Target="/ppt/slides/slide3.xml" Id="R8fa955f8c98f476d" /><Relationship Type="http://schemas.openxmlformats.org/officeDocument/2006/relationships/slide" Target="/ppt/slides/slide4.xml" Id="R1715730d4a2d4373" /><Relationship Type="http://schemas.openxmlformats.org/officeDocument/2006/relationships/slide" Target="/ppt/slides/slide5.xml" Id="R8b528ba9dc2845ac" /><Relationship Type="http://schemas.openxmlformats.org/officeDocument/2006/relationships/slide" Target="/ppt/slides/slide6.xml" Id="R2b035f8fddbf4d23" /><Relationship Type="http://schemas.openxmlformats.org/officeDocument/2006/relationships/slide" Target="/ppt/slides/slide7.xml" Id="R243805e724644606" /><Relationship Type="http://schemas.openxmlformats.org/officeDocument/2006/relationships/slide" Target="/ppt/slides/slide8.xml" Id="Rd0294945157046df" /><Relationship Type="http://schemas.openxmlformats.org/officeDocument/2006/relationships/slide" Target="/ppt/slides/slide9.xml" Id="R9db4f9b5d8d343bb" /><Relationship Type="http://schemas.openxmlformats.org/officeDocument/2006/relationships/slide" Target="/ppt/slides/slide10.xml" Id="Rc0ca85a049594b33" /><Relationship Type="http://schemas.openxmlformats.org/officeDocument/2006/relationships/slide" Target="/ppt/slides/slide11.xml" Id="Rf8af45eeccef495b" /><Relationship Type="http://schemas.openxmlformats.org/officeDocument/2006/relationships/slide" Target="/ppt/slides/slide12.xml" Id="Rbae446a820684372" /><Relationship Type="http://schemas.openxmlformats.org/officeDocument/2006/relationships/slide" Target="/ppt/slides/slide13.xml" Id="R21fe4d3e72324744" /><Relationship Type="http://schemas.openxmlformats.org/officeDocument/2006/relationships/slide" Target="/ppt/slides/slide14.xml" Id="R324c8fe6720d487e" /><Relationship Type="http://schemas.openxmlformats.org/officeDocument/2006/relationships/slide" Target="/ppt/slides/slide15.xml" Id="R753335cdb02f422d" /><Relationship Type="http://schemas.openxmlformats.org/officeDocument/2006/relationships/slide" Target="/ppt/slides/slide16.xml" Id="R1cfe26dcb8a54c1c" /><Relationship Type="http://schemas.openxmlformats.org/officeDocument/2006/relationships/slide" Target="/ppt/slides/slide17.xml" Id="Rcd8f4ddfd9e34d6d" /><Relationship Type="http://schemas.openxmlformats.org/officeDocument/2006/relationships/slide" Target="/ppt/slides/slide18.xml" Id="R3f05f2a2d08947d2" /><Relationship Type="http://schemas.openxmlformats.org/officeDocument/2006/relationships/slide" Target="/ppt/slides/slide19.xml" Id="R17125662e97340de" /><Relationship Type="http://schemas.openxmlformats.org/officeDocument/2006/relationships/slide" Target="/ppt/slides/slide20.xml" Id="Rd8fa9a923e3a48e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620ed6eb914447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95b995125a2411a" /><Relationship Type="http://schemas.openxmlformats.org/officeDocument/2006/relationships/notesMaster" Target="/ppt/notesMasters/notesMaster1.xml" Id="R8edf58a30831492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9b91025971740a8" /><Relationship Type="http://schemas.openxmlformats.org/officeDocument/2006/relationships/notesMaster" Target="/ppt/notesMasters/notesMaster1.xml" Id="Rf1fb8ad2948b40f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c8687ff400348e5" /><Relationship Type="http://schemas.openxmlformats.org/officeDocument/2006/relationships/notesMaster" Target="/ppt/notesMasters/notesMaster1.xml" Id="R6a6e6dd3e469446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d29f0b65e6c4a34" /><Relationship Type="http://schemas.openxmlformats.org/officeDocument/2006/relationships/notesMaster" Target="/ppt/notesMasters/notesMaster1.xml" Id="R2db203d5064c4fb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824d566c8294737" /><Relationship Type="http://schemas.openxmlformats.org/officeDocument/2006/relationships/notesMaster" Target="/ppt/notesMasters/notesMaster1.xml" Id="Re04d10433b6f4e4d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84e8db402b9f47ea" /><Relationship Type="http://schemas.openxmlformats.org/officeDocument/2006/relationships/notesMaster" Target="/ppt/notesMasters/notesMaster1.xml" Id="R5d478f5493ca426d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bc67dfbd02214fb3" /><Relationship Type="http://schemas.openxmlformats.org/officeDocument/2006/relationships/notesMaster" Target="/ppt/notesMasters/notesMaster1.xml" Id="R532fe6a0722f428a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6e40e13fd2764001" /><Relationship Type="http://schemas.openxmlformats.org/officeDocument/2006/relationships/notesMaster" Target="/ppt/notesMasters/notesMaster1.xml" Id="R8d8b777658b84550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b06fb9801513433f" /><Relationship Type="http://schemas.openxmlformats.org/officeDocument/2006/relationships/notesMaster" Target="/ppt/notesMasters/notesMaster1.xml" Id="R6fb40dead1ba488d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d13e3b3cd209412f" /><Relationship Type="http://schemas.openxmlformats.org/officeDocument/2006/relationships/notesMaster" Target="/ppt/notesMasters/notesMaster1.xml" Id="R1d90d3ccf5804bf7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5e00e9e55b0e4fd1" /><Relationship Type="http://schemas.openxmlformats.org/officeDocument/2006/relationships/notesMaster" Target="/ppt/notesMasters/notesMaster1.xml" Id="Rec1c983a89db41cc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71f3d8b3e52c4841" /><Relationship Type="http://schemas.openxmlformats.org/officeDocument/2006/relationships/notesMaster" Target="/ppt/notesMasters/notesMaster1.xml" Id="Rdbac0649d2c5480e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c5e8ea3cd2134229" /><Relationship Type="http://schemas.openxmlformats.org/officeDocument/2006/relationships/notesMaster" Target="/ppt/notesMasters/notesMaster1.xml" Id="R8f47dc6ff6bb4c2f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148bb5d1994b4179" /><Relationship Type="http://schemas.openxmlformats.org/officeDocument/2006/relationships/notesMaster" Target="/ppt/notesMasters/notesMaster1.xml" Id="Rcb58394888864442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0ae1339d494845a9" /><Relationship Type="http://schemas.openxmlformats.org/officeDocument/2006/relationships/notesMaster" Target="/ppt/notesMasters/notesMaster1.xml" Id="R0c2aca4e864a4d92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b7a1af0cf81c48e7" /><Relationship Type="http://schemas.openxmlformats.org/officeDocument/2006/relationships/notesMaster" Target="/ppt/notesMasters/notesMaster1.xml" Id="R65782e75507542ad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804be25282ec43e6" /><Relationship Type="http://schemas.openxmlformats.org/officeDocument/2006/relationships/notesMaster" Target="/ppt/notesMasters/notesMaster1.xml" Id="R9dd2cf242bfc4f21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8a454d542ea24411" /><Relationship Type="http://schemas.openxmlformats.org/officeDocument/2006/relationships/notesMaster" Target="/ppt/notesMasters/notesMaster1.xml" Id="R9faae199e80c44b5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3f9f34e680a549e5" /><Relationship Type="http://schemas.openxmlformats.org/officeDocument/2006/relationships/notesMaster" Target="/ppt/notesMasters/notesMaster1.xml" Id="R30210fb2b8774a76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133ed7e0fdc34a6e" /><Relationship Type="http://schemas.openxmlformats.org/officeDocument/2006/relationships/notesMaster" Target="/ppt/notesMasters/notesMaster1.xml" Id="Rd3f6179908a5496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课程定位：教学实验，不是官方 Uniswap，不处理真实资产。</a:t>
            </a:r>
          </a:p>
          <a:p xmlns:a="http://schemas.openxmlformats.org/drawingml/2006/main">
            <a:r>
              <a:t>Avalanche Fuji 网络参数：https://build.avax.network/docs/primary-network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强调教学资产无价值；真实主网资金不进入课堂流程。</a:t>
            </a:r>
          </a:p>
          <a:p xmlns:a="http://schemas.openxmlformats.org/drawingml/2006/main">
            <a:r>
              <a:t>本地项目说明：https://github.com/0xherstory/fuji-v2-amm-course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教学重点：合约是链上可执行规则，UI 不能绕过合约约束。</a:t>
            </a:r>
          </a:p>
          <a:p xmlns:a="http://schemas.openxmlformats.org/drawingml/2006/main">
            <a:r>
              <a:t>Uniswap v2 architecture: https://developers.uniswap.org/docs/protocols/v2/overview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图表为本课示例数据，k=10,000；不包含费用时储备点沿恒定乘积曲线移动。</a:t>
            </a:r>
          </a:p>
          <a:p xmlns:a="http://schemas.openxmlformats.org/drawingml/2006/main">
            <a:r>
              <a:t>Uniswap v2 whitepaper: https://docs.uniswap.org/whitepaper.pdf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计算：amountInWithFee=10×0.997=9.97；amountOut=100×9.97/(100+9.97)≈9.066。</a:t>
            </a:r>
          </a:p>
          <a:p xmlns:a="http://schemas.openxmlformats.org/drawingml/2006/main">
            <a:r>
              <a:t>Uniswap v2 pools and 0.3% fee: https://developers.uniswap.org/docs/protocols/v2/concepts/pools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Uniswap v2 architecture and repositories: https://developers.uniswap.org/docs/protocols/v2/overview</a:t>
            </a:r>
          </a:p>
          <a:p xmlns:a="http://schemas.openxmlformats.org/drawingml/2006/main">
            <a:r>
              <a:t>本课实现范围：https://github.com/0xherstory/fuji-v2-amm-course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目录名与命令在最终版生成前应再次对照仓库。</a:t>
            </a:r>
          </a:p>
          <a:p xmlns:a="http://schemas.openxmlformats.org/drawingml/2006/main">
            <a:r>
              <a:t>Scaffold-ETH docs: https://docs.scaffoldeth.io</a:t>
            </a:r>
          </a:p>
          <a:p xmlns:a="http://schemas.openxmlformats.org/drawingml/2006/main">
            <a:r>
              <a:t>本地项目：https://github.com/0xherstory/fuji-v2-amm-course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13 步来自本课程学员实际操作流程。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GitHub fork guide: https://docs.github.com/en/get-started/quickstart/fork-a-repo</a:t>
            </a:r>
          </a:p>
          <a:p xmlns:a="http://schemas.openxmlformats.org/drawingml/2006/main">
            <a:r>
              <a:t>本地项目：https://github.com/0xherstory/fuji-v2-amm-course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本地测试约定：https://github.com/0xherstory/fuji-v2-amm-course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Uniswap v2 security and architecture references: https://developers.uniswap.org/docs/protocols/v2/overview</a:t>
            </a:r>
          </a:p>
          <a:p xmlns:a="http://schemas.openxmlformats.org/drawingml/2006/main">
            <a:r>
              <a:t>本地合约：https://github.com/0xherstory/fuji-v2-amm-course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当前命令清单：https://github.com/0xherstory/fuji-v2-amm-course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Fuji chain ID, RPC, explorer and faucet: https://build.avax.network/docs/primary-network</a:t>
            </a:r>
          </a:p>
          <a:p xmlns:a="http://schemas.openxmlformats.org/drawingml/2006/main">
            <a:r>
              <a:t>Official faucet: https://build.avax.network/console/primary-network/faucet</a:t>
            </a:r>
          </a:p>
          <a:p xmlns:a="http://schemas.openxmlformats.org/drawingml/2006/main">
            <a:r>
              <a:t>本地部署规则：https://github.com/0xherstory/fuji-v2-amm-course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Scaffold-ETH deployment flow: https://docs.scaffoldeth.io</a:t>
            </a:r>
          </a:p>
          <a:p xmlns:a="http://schemas.openxmlformats.org/drawingml/2006/main">
            <a:r>
              <a:t>本地部署产物：https://github.com/0xherstory/fuji-v2-amm-course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仓库忽略与安全约定：https://github.com/0xherstory/fuji-v2-amm-course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GitHub Actions: https://docs.github.com/en/actions</a:t>
            </a:r>
          </a:p>
          <a:p xmlns:a="http://schemas.openxmlformats.org/drawingml/2006/main">
            <a:r>
              <a:t>Vercel Git deployment: https://vercel.com/docs/git</a:t>
            </a:r>
          </a:p>
          <a:p xmlns:a="http://schemas.openxmlformats.org/drawingml/2006/main">
            <a:r>
              <a:t>本地发布配置：https://github.com/0xherstory/fuji-v2-amm-course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Fuji explorer: https://explorer-test.avax.network/c-chain</a:t>
            </a:r>
          </a:p>
          <a:p xmlns:a="http://schemas.openxmlformats.org/drawingml/2006/main">
            <a:r>
              <a:t>Avalanche network parameters: https://build.avax.network/docs/primary-network</a:t>
            </a:r>
          </a:p>
          <a:p xmlns:a="http://schemas.openxmlformats.org/drawingml/2006/main">
            <a:r>
              <a:t>本地交互流程：https://github.com/0xherstory/fuji-v2-amm-course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Fuji faucet: https://build.avax.network/console/primary-network/faucet</a:t>
            </a:r>
          </a:p>
          <a:p xmlns:a="http://schemas.openxmlformats.org/drawingml/2006/main">
            <a:r>
              <a:t>Vercel Git docs: https://vercel.com/docs/git</a:t>
            </a:r>
          </a:p>
          <a:p xmlns:a="http://schemas.openxmlformats.org/drawingml/2006/main">
            <a:r>
              <a:t>本地排障规则：https://github.com/0xherstory/fuji-v2-amm-course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挑战题仅用于教学测试网；修改 Claim 时要讨论女巫攻击与身份边界。</a:t>
            </a:r>
          </a:p>
          <a:p xmlns:a="http://schemas.openxmlformats.org/drawingml/2006/main">
            <a:r>
              <a:t>Uniswap v2 mechanics: https://developers.uniswap.org/docs/protocols/v2/overview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Avalanche primary network: https://build.avax.network/docs/primary-network</a:t>
            </a:r>
          </a:p>
          <a:p xmlns:a="http://schemas.openxmlformats.org/drawingml/2006/main">
            <a:r>
              <a:t>Official Fuji faucet: https://build.avax.network/console/primary-network/faucet</a:t>
            </a:r>
          </a:p>
          <a:p xmlns:a="http://schemas.openxmlformats.org/drawingml/2006/main">
            <a:r>
              <a:t>Fuji explorer: https://explorer-test.avax.network/c-chain</a:t>
            </a:r>
          </a:p>
          <a:p xmlns:a="http://schemas.openxmlformats.org/drawingml/2006/main">
            <a:r>
              <a:t>Uniswap v2 developer docs: https://developers.uniswap.org/docs/protocols/v2/overview</a:t>
            </a:r>
          </a:p>
          <a:p xmlns:a="http://schemas.openxmlformats.org/drawingml/2006/main">
            <a:r>
              <a:t>Vercel Git deployments: https://vercel.com/docs/git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5a78c4d3235421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c7921f13489411b" /><Relationship Type="http://schemas.openxmlformats.org/officeDocument/2006/relationships/slideLayout" Target="/ppt/slideLayouts/slideLayout1.xml" Id="Rf1ec7578bac14a7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1ec7578bac14a7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9805b1cdd9d4cc3" /><Relationship Type="http://schemas.openxmlformats.org/officeDocument/2006/relationships/notesSlide" Target="/ppt/notesSlides/notesSlide1.xml" Id="Rac997ac4435c47f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871e666de344108" /><Relationship Type="http://schemas.openxmlformats.org/officeDocument/2006/relationships/notesSlide" Target="/ppt/notesSlides/notesSlide2.xml" Id="Rb0111c2170324cd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5621129e3bd4954" /><Relationship Type="http://schemas.openxmlformats.org/officeDocument/2006/relationships/notesSlide" Target="/ppt/notesSlides/notesSlide3.xml" Id="R364809f67ed54fc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a78eb3d08ae4262" /><Relationship Type="http://schemas.openxmlformats.org/officeDocument/2006/relationships/chart" Target="/ppt/slides/charts/chart1.xml" Id="Ra0dce43497e14b9b" /><Relationship Type="http://schemas.openxmlformats.org/officeDocument/2006/relationships/notesSlide" Target="/ppt/notesSlides/notesSlide4.xml" Id="Rf2cde92613cb4b3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3dd595307c74856" /><Relationship Type="http://schemas.openxmlformats.org/officeDocument/2006/relationships/notesSlide" Target="/ppt/notesSlides/notesSlide5.xml" Id="R6bc4fb458a864750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4b58801348f4d95" /><Relationship Type="http://schemas.openxmlformats.org/officeDocument/2006/relationships/notesSlide" Target="/ppt/notesSlides/notesSlide6.xml" Id="Re38670985d42493c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b8b3dd0d305467e" /><Relationship Type="http://schemas.openxmlformats.org/officeDocument/2006/relationships/notesSlide" Target="/ppt/notesSlides/notesSlide7.xml" Id="R9f86496b3c734d54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a30529950514a2b" /><Relationship Type="http://schemas.openxmlformats.org/officeDocument/2006/relationships/notesSlide" Target="/ppt/notesSlides/notesSlide8.xml" Id="R1f8e4addcb104cdf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6365fbd48d14e34" /><Relationship Type="http://schemas.openxmlformats.org/officeDocument/2006/relationships/notesSlide" Target="/ppt/notesSlides/notesSlide9.xml" Id="R24ae400039d744ea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7f510f92de04941" /><Relationship Type="http://schemas.openxmlformats.org/officeDocument/2006/relationships/notesSlide" Target="/ppt/notesSlides/notesSlide10.xml" Id="R35c2a4f0c8854750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9f73dd2614f4caf" /><Relationship Type="http://schemas.openxmlformats.org/officeDocument/2006/relationships/notesSlide" Target="/ppt/notesSlides/notesSlide11.xml" Id="R1ff04e05e2b54e42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2ca7d8124ca4915" /><Relationship Type="http://schemas.openxmlformats.org/officeDocument/2006/relationships/notesSlide" Target="/ppt/notesSlides/notesSlide12.xml" Id="Re2e6371c818541c9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d5d04f27c12414b" /><Relationship Type="http://schemas.openxmlformats.org/officeDocument/2006/relationships/notesSlide" Target="/ppt/notesSlides/notesSlide13.xml" Id="R40c464bfc187473e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d53b86e2da74175" /><Relationship Type="http://schemas.openxmlformats.org/officeDocument/2006/relationships/notesSlide" Target="/ppt/notesSlides/notesSlide14.xml" Id="R6dccc803076a48e9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c225dec94954de0" /><Relationship Type="http://schemas.openxmlformats.org/officeDocument/2006/relationships/notesSlide" Target="/ppt/notesSlides/notesSlide15.xml" Id="Re48019b911444c90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6506dac5b9a4719" /><Relationship Type="http://schemas.openxmlformats.org/officeDocument/2006/relationships/notesSlide" Target="/ppt/notesSlides/notesSlide16.xml" Id="R7522a4975f594342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e63c5d3d9ed4e0b" /><Relationship Type="http://schemas.openxmlformats.org/officeDocument/2006/relationships/notesSlide" Target="/ppt/notesSlides/notesSlide17.xml" Id="Rfdbac42aa79947f7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36572f2771a43cb" /><Relationship Type="http://schemas.openxmlformats.org/officeDocument/2006/relationships/notesSlide" Target="/ppt/notesSlides/notesSlide18.xml" Id="R31c229f2706e414f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fd2a7df68d1431d" /><Relationship Type="http://schemas.openxmlformats.org/officeDocument/2006/relationships/notesSlide" Target="/ppt/notesSlides/notesSlide19.xml" Id="R9d8002d365d8471b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08dda9534ef4f71" /><Relationship Type="http://schemas.openxmlformats.org/officeDocument/2006/relationships/notesSlide" Target="/ppt/notesSlides/notesSlide20.xml" Id="R6b85c5a210a04e68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scatterChart>
        <c:scatterStyle val="smooth"/>
        <c:ser>
          <c:idx val="0"/>
          <c:order val="0"/>
          <c:tx>
            <c:v>k = 10,000</c:v>
          </c:tx>
          <c:spPr>
            <a:ln xmlns:a="http://schemas.openxmlformats.org/drawingml/2006/main" w="28575">
              <a:solidFill>
                <a:srgbClr val="E84142"/>
              </a:solidFill>
              <a:prstDash val="solid"/>
            </a:ln>
          </c:spPr>
          <c:marker>
            <c:symbol val="none"/>
            <c:size val="5"/>
          </c:marker>
          <c:xVal>
            <c:numRef>
              <c:f>'Chart Data'!$A$2:$A$12</c:f>
              <c:numCache>
                <c:formatCode>General</c:formatCode>
                <c:ptCount val="11"/>
                <c:pt idx="0">
                  <c:v>20</c:v>
                </c:pt>
                <c:pt idx="1">
                  <c:v>25</c:v>
                </c:pt>
                <c:pt idx="2">
                  <c:v>33</c:v>
                </c:pt>
                <c:pt idx="3">
                  <c:v>40</c:v>
                </c:pt>
                <c:pt idx="4">
                  <c:v>50</c:v>
                </c:pt>
                <c:pt idx="5">
                  <c:v>67</c:v>
                </c:pt>
                <c:pt idx="6">
                  <c:v>80</c:v>
                </c:pt>
                <c:pt idx="7">
                  <c:v>100</c:v>
                </c:pt>
                <c:pt idx="8">
                  <c:v>125</c:v>
                </c:pt>
                <c:pt idx="9">
                  <c:v>160</c:v>
                </c:pt>
                <c:pt idx="10">
                  <c:v>200</c:v>
                </c:pt>
              </c:numCache>
            </c:numRef>
          </c:xVal>
          <c:yVal>
            <c:numRef>
              <c:f>'Chart Data'!$B$2:$B$12</c:f>
              <c:numCache>
                <c:formatCode>General</c:formatCode>
                <c:ptCount val="11"/>
                <c:pt idx="0">
                  <c:v>500</c:v>
                </c:pt>
                <c:pt idx="1">
                  <c:v>400</c:v>
                </c:pt>
                <c:pt idx="2">
                  <c:v>303.03</c:v>
                </c:pt>
                <c:pt idx="3">
                  <c:v>250</c:v>
                </c:pt>
                <c:pt idx="4">
                  <c:v>200</c:v>
                </c:pt>
                <c:pt idx="5">
                  <c:v>149.254</c:v>
                </c:pt>
                <c:pt idx="6">
                  <c:v>125</c:v>
                </c:pt>
                <c:pt idx="7">
                  <c:v>100</c:v>
                </c:pt>
                <c:pt idx="8">
                  <c:v>80</c:v>
                </c:pt>
                <c:pt idx="9">
                  <c:v>62.5</c:v>
                </c:pt>
                <c:pt idx="10">
                  <c:v>50</c:v>
                </c:pt>
              </c:numCache>
            </c:numRef>
          </c:y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Hiragino Sans GB"/>
                  <a:ea typeface="Hiragino Sans GB"/>
                  <a:cs typeface="Hiragino Sans GB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D9DEE4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>
                    <a:latin typeface="Hiragino Sans GB"/>
                    <a:ea typeface="Hiragino Sans GB"/>
                    <a:cs typeface="Hiragino Sans GB"/>
                  </a:rPr>
                  <a:t>COURSE 储备 y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Hiragino Sans GB"/>
                  <a:ea typeface="Hiragino Sans GB"/>
                  <a:cs typeface="Hiragino Sans GB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Hiragino Sans GB"/>
                <a:ea typeface="Hiragino Sans GB"/>
                <a:cs typeface="Hiragino Sans GB"/>
              </a:defRPr>
            </a:pPr>
          </a:p>
        </c:txPr>
        <c:crossAx val="48650112"/>
        <c:majorUnit val="50"/>
      </c:valAx>
      <c:valAx>
        <c:axId val="48650112"/>
        <c:scaling>
          <c:orientation val="minMax"/>
        </c:scaling>
        <c:delete val="0"/>
        <c:axPos val="b"/>
        <c:majorGridlines>
          <c:spPr>
            <a:ln xmlns:a="http://schemas.openxmlformats.org/drawingml/2006/main" w="9525">
              <a:solidFill>
                <a:srgbClr val="D9DEE4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>
                    <a:latin typeface="Hiragino Sans GB"/>
                    <a:ea typeface="Hiragino Sans GB"/>
                    <a:cs typeface="Hiragino Sans GB"/>
                  </a:rPr>
                  <a:t>AVAX 储备 x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Hiragino Sans GB"/>
                  <a:ea typeface="Hiragino Sans GB"/>
                  <a:cs typeface="Hiragino Sans GB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Hiragino Sans GB"/>
                <a:ea typeface="Hiragino Sans GB"/>
                <a:cs typeface="Hiragino Sans GB"/>
              </a:defRPr>
            </a:pPr>
          </a:p>
        </c:txPr>
        <c:crossAx val="48672768"/>
        <c:majorUnit val="50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D85064B-8999-41F8-B201-549598822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476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414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E82E41F-04A0-4CD3-B76D-4EA2ED9E4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0"/>
            <a:ext cx="34766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9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A0334BC-421D-4A3B-A268-4A6B28874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23950"/>
            <a:ext cx="7239000" cy="1676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4500" b="1">
                <a:solidFill>
                  <a:srgbClr val="17191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4500" b="1">
                <a:solidFill>
                  <a:srgbClr val="17191D"/>
                </a:solidFill>
                <a:latin typeface="Hiragino Sans GB"/>
                <a:ea typeface="Hiragino Sans GB"/>
                <a:cs typeface="Hiragino Sans GB"/>
              </a:rPr>
              <a:t>Uniswap V2</a:t>
            </a:r>
          </a:p>
          <a:p xmlns:a="http://schemas.openxmlformats.org/drawingml/2006/main">
            <a:pPr algn="l">
              <a:defRPr sz="4500" b="1">
                <a:solidFill>
                  <a:srgbClr val="17191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4500" b="1">
                <a:solidFill>
                  <a:srgbClr val="17191D"/>
                </a:solidFill>
                <a:latin typeface="Hiragino Sans GB"/>
                <a:ea typeface="Hiragino Sans GB"/>
                <a:cs typeface="Hiragino Sans GB"/>
              </a:rPr>
              <a:t>机制教学版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C6D45F9-697A-4257-B602-04F252601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048000"/>
            <a:ext cx="690562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F667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5F6670"/>
                </a:solidFill>
                <a:latin typeface="Hiragino Sans GB"/>
                <a:ea typeface="Hiragino Sans GB"/>
                <a:cs typeface="Hiragino Sans GB"/>
              </a:rPr>
              <a:t>用 AI 在 Avalanche Fuji 完成合约、测试、部署与发布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AEF4089-D33A-4CAC-A9D9-5CFA55F23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943350"/>
            <a:ext cx="63436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414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252A8CF-40DE-48F3-BB17-6C54A671F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257675"/>
            <a:ext cx="1095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E84142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1">
                <a:solidFill>
                  <a:srgbClr val="E84142"/>
                </a:solidFill>
                <a:latin typeface="Hiragino Sans GB"/>
                <a:ea typeface="Hiragino Sans GB"/>
                <a:cs typeface="Hiragino Sans GB"/>
              </a:rPr>
              <a:t>课堂产出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B475617-4B48-421D-9ADF-EE3B0A3E7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581525"/>
            <a:ext cx="409575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7191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75" b="1">
                <a:solidFill>
                  <a:srgbClr val="17191D"/>
                </a:solidFill>
                <a:latin typeface="Hiragino Sans GB"/>
                <a:ea typeface="Hiragino Sans GB"/>
                <a:cs typeface="Hiragino Sans GB"/>
              </a:rPr>
              <a:t>自己的合约地址</a:t>
            </a:r>
          </a:p>
          <a:p xmlns:a="http://schemas.openxmlformats.org/drawingml/2006/main">
            <a:pPr algn="l">
              <a:defRPr sz="1875" b="1">
                <a:solidFill>
                  <a:srgbClr val="17191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75" b="1">
                <a:solidFill>
                  <a:srgbClr val="17191D"/>
                </a:solidFill>
                <a:latin typeface="Hiragino Sans GB"/>
                <a:ea typeface="Hiragino Sans GB"/>
                <a:cs typeface="Hiragino Sans GB"/>
              </a:rPr>
              <a:t>自己的 GitHub 仓库</a:t>
            </a:r>
          </a:p>
          <a:p xmlns:a="http://schemas.openxmlformats.org/drawingml/2006/main">
            <a:pPr algn="l">
              <a:defRPr sz="1875" b="1">
                <a:solidFill>
                  <a:srgbClr val="17191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75" b="1">
                <a:solidFill>
                  <a:srgbClr val="17191D"/>
                </a:solidFill>
                <a:latin typeface="Hiragino Sans GB"/>
                <a:ea typeface="Hiragino Sans GB"/>
                <a:cs typeface="Hiragino Sans GB"/>
              </a:rPr>
              <a:t>自己的在线 DApp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CD1230E-B4D4-4892-8A64-69A5E128B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1381125"/>
            <a:ext cx="2505075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975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975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rPr>
              <a:t>FUJI</a:t>
            </a:r>
          </a:p>
          <a:p xmlns:a="http://schemas.openxmlformats.org/drawingml/2006/main">
            <a:pPr algn="ctr">
              <a:defRPr sz="3975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975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rPr>
              <a:t>43113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B2D0E70-46F0-4C5E-8302-C9E0E1723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762375"/>
            <a:ext cx="2619375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B2B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650" b="1">
                <a:solidFill>
                  <a:srgbClr val="FFB2B3"/>
                </a:solidFill>
                <a:latin typeface="Hiragino Sans GB"/>
                <a:ea typeface="Hiragino Sans GB"/>
                <a:cs typeface="Hiragino Sans GB"/>
              </a:rPr>
              <a:t>只用测试钱包</a:t>
            </a:r>
          </a:p>
          <a:p xmlns:a="http://schemas.openxmlformats.org/drawingml/2006/main">
            <a:pPr algn="ctr">
              <a:defRPr sz="1650" b="1">
                <a:solidFill>
                  <a:srgbClr val="FFB2B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650" b="1">
                <a:solidFill>
                  <a:srgbClr val="FFB2B3"/>
                </a:solidFill>
                <a:latin typeface="Hiragino Sans GB"/>
                <a:ea typeface="Hiragino Sans GB"/>
                <a:cs typeface="Hiragino Sans GB"/>
              </a:rPr>
              <a:t>测试 AVAX 没有真实价值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65B58BE-A9C7-49C9-9406-38CBB63B1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5181600"/>
            <a:ext cx="2667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rPr>
              <a:t>AI 写代码与跑验证</a:t>
            </a:r>
          </a:p>
          <a:p xmlns:a="http://schemas.openxmlformats.org/drawingml/2006/main">
            <a:pPr algn="ctr">
              <a:defRPr sz="1350" b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rPr>
              <a:t>学员保管密钥并确认发布</a:t>
            </a:r>
          </a:p>
        </p:txBody>
      </p:sp>
    </p:spTree>
    <p:extLst>
      <p:ext uri="{BB962C8B-B14F-4D97-AF65-F5344CB8AC3E}">
        <p14:creationId xmlns:p14="http://schemas.microsoft.com/office/powerpoint/2010/main" val="47551580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0EC65AB-E4E8-4447-B68F-D6508FAE4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52425"/>
            <a:ext cx="10144125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191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550" b="1">
                <a:solidFill>
                  <a:srgbClr val="17191D"/>
                </a:solidFill>
                <a:latin typeface="Hiragino Sans GB"/>
                <a:ea typeface="Hiragino Sans GB"/>
                <a:cs typeface="Hiragino Sans GB"/>
              </a:rPr>
              <a:t>一堂课的交付物与安全边界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A8E3EFC-DB47-4D96-8D39-613207B14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428625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E84142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1">
                <a:solidFill>
                  <a:srgbClr val="E84142"/>
                </a:solidFill>
                <a:latin typeface="Hiragino Sans GB"/>
                <a:ea typeface="Hiragino Sans GB"/>
                <a:cs typeface="Hiragino Sans GB"/>
              </a:rPr>
              <a:t>02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7A8DC9D-1736-40CE-A4D9-20F3C16BD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981075"/>
            <a:ext cx="110299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CFE5D98-2917-4D3F-96E8-C23663212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29375"/>
            <a:ext cx="723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F667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75" b="1">
                <a:solidFill>
                  <a:srgbClr val="5F6670"/>
                </a:solidFill>
                <a:latin typeface="Hiragino Sans GB"/>
                <a:ea typeface="Hiragino Sans GB"/>
                <a:cs typeface="Hiragino Sans GB"/>
              </a:rPr>
              <a:t>课程目标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F6AF755-398C-4347-ACBC-1FFAF545E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6429375"/>
            <a:ext cx="2952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F667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75" b="0">
                <a:solidFill>
                  <a:srgbClr val="5F6670"/>
                </a:solidFill>
                <a:latin typeface="Hiragino Sans GB"/>
                <a:ea typeface="Hiragino Sans GB"/>
                <a:cs typeface="Hiragino Sans GB"/>
              </a:rPr>
              <a:t>Fuji Testnet · 测试资产无价值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FFEFAB1-20BC-44B9-A267-96DBEA170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228725"/>
            <a:ext cx="7239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F667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0">
                <a:solidFill>
                  <a:srgbClr val="5F6670"/>
                </a:solidFill>
                <a:latin typeface="Hiragino Sans GB"/>
                <a:ea typeface="Hiragino Sans GB"/>
                <a:cs typeface="Hiragino Sans GB"/>
              </a:rPr>
              <a:t>下课前，每位学员应能展示三项可验证结果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96DD948-D44A-4DCB-85C0-76720E4F4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000250"/>
            <a:ext cx="7810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E84142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550" b="1">
                <a:solidFill>
                  <a:srgbClr val="E84142"/>
                </a:solidFill>
                <a:latin typeface="Hiragino Sans GB"/>
                <a:ea typeface="Hiragino Sans GB"/>
                <a:cs typeface="Hiragino Sans GB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40EF972-E294-4196-B647-34079E8C4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2038350"/>
            <a:ext cx="2190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7191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00" b="1">
                <a:solidFill>
                  <a:srgbClr val="17191D"/>
                </a:solidFill>
                <a:latin typeface="Hiragino Sans GB"/>
                <a:ea typeface="Hiragino Sans GB"/>
                <a:cs typeface="Hiragino Sans GB"/>
              </a:rPr>
              <a:t>合约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8135DC4-AB6A-460A-852E-200586F98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609850"/>
            <a:ext cx="3124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2D2447C-6910-44B1-A745-99CBF5640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867025"/>
            <a:ext cx="31242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F667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0">
                <a:solidFill>
                  <a:srgbClr val="5F6670"/>
                </a:solidFill>
                <a:latin typeface="Hiragino Sans GB"/>
                <a:ea typeface="Hiragino Sans GB"/>
                <a:cs typeface="Hiragino Sans GB"/>
              </a:rPr>
              <a:t>Fuji 上的教学 AMM 地址</a:t>
            </a:r>
          </a:p>
          <a:p xmlns:a="http://schemas.openxmlformats.org/drawingml/2006/main">
            <a:pPr algn="l">
              <a:defRPr sz="1500" b="0">
                <a:solidFill>
                  <a:srgbClr val="5F667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0">
                <a:solidFill>
                  <a:srgbClr val="5F6670"/>
                </a:solidFill>
                <a:latin typeface="Hiragino Sans GB"/>
                <a:ea typeface="Hiragino Sans GB"/>
                <a:cs typeface="Hiragino Sans GB"/>
              </a:rPr>
              <a:t>Explorer 可查询交易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642DA6E-C24F-4281-8B1B-3901584FD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2000250"/>
            <a:ext cx="7810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E84142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550" b="1">
                <a:solidFill>
                  <a:srgbClr val="E84142"/>
                </a:solidFill>
                <a:latin typeface="Hiragino Sans GB"/>
                <a:ea typeface="Hiragino Sans GB"/>
                <a:cs typeface="Hiragino Sans GB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CBEA067-853D-4EBD-83AE-9E5C1263D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2038350"/>
            <a:ext cx="2190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7191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00" b="1">
                <a:solidFill>
                  <a:srgbClr val="17191D"/>
                </a:solidFill>
                <a:latin typeface="Hiragino Sans GB"/>
                <a:ea typeface="Hiragino Sans GB"/>
                <a:cs typeface="Hiragino Sans GB"/>
              </a:rPr>
              <a:t>代码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BCD3EE2-D2D1-43D1-9E9D-FFDD5EF34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2609850"/>
            <a:ext cx="3124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F342FF9-5790-4137-9954-8C75217BB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2867025"/>
            <a:ext cx="31242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F667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0">
                <a:solidFill>
                  <a:srgbClr val="5F6670"/>
                </a:solidFill>
                <a:latin typeface="Hiragino Sans GB"/>
                <a:ea typeface="Hiragino Sans GB"/>
                <a:cs typeface="Hiragino Sans GB"/>
              </a:rPr>
              <a:t>独立 fork 与清晰 diff</a:t>
            </a:r>
          </a:p>
          <a:p xmlns:a="http://schemas.openxmlformats.org/drawingml/2006/main">
            <a:pPr algn="l">
              <a:defRPr sz="1500" b="0">
                <a:solidFill>
                  <a:srgbClr val="5F667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0">
                <a:solidFill>
                  <a:srgbClr val="5F6670"/>
                </a:solidFill>
                <a:latin typeface="Hiragino Sans GB"/>
                <a:ea typeface="Hiragino Sans GB"/>
                <a:cs typeface="Hiragino Sans GB"/>
              </a:rPr>
              <a:t>合约测试和 CI 通过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471328C-9117-44E3-8FEF-9FEEEA060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2000250"/>
            <a:ext cx="7810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E84142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550" b="1">
                <a:solidFill>
                  <a:srgbClr val="E84142"/>
                </a:solidFill>
                <a:latin typeface="Hiragino Sans GB"/>
                <a:ea typeface="Hiragino Sans GB"/>
                <a:cs typeface="Hiragino Sans GB"/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DC7B73C-D4C1-4D0E-B09B-AB662EA60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2038350"/>
            <a:ext cx="2190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7191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00" b="1">
                <a:solidFill>
                  <a:srgbClr val="17191D"/>
                </a:solidFill>
                <a:latin typeface="Hiragino Sans GB"/>
                <a:ea typeface="Hiragino Sans GB"/>
                <a:cs typeface="Hiragino Sans GB"/>
              </a:rPr>
              <a:t>产品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F459343-0012-4034-92F8-0A53D64F6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2609850"/>
            <a:ext cx="3124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E232AA0-2B39-4E5C-9DA3-F1468CDF6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2867025"/>
            <a:ext cx="31242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F667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0">
                <a:solidFill>
                  <a:srgbClr val="5F6670"/>
                </a:solidFill>
                <a:latin typeface="Hiragino Sans GB"/>
                <a:ea typeface="Hiragino Sans GB"/>
                <a:cs typeface="Hiragino Sans GB"/>
              </a:rPr>
              <a:t>Vercel 在线页面</a:t>
            </a:r>
          </a:p>
          <a:p xmlns:a="http://schemas.openxmlformats.org/drawingml/2006/main">
            <a:pPr algn="l">
              <a:defRPr sz="1500" b="0">
                <a:solidFill>
                  <a:srgbClr val="5F667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0">
                <a:solidFill>
                  <a:srgbClr val="5F6670"/>
                </a:solidFill>
                <a:latin typeface="Hiragino Sans GB"/>
                <a:ea typeface="Hiragino Sans GB"/>
                <a:cs typeface="Hiragino Sans GB"/>
              </a:rPr>
              <a:t>可完成完整交互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CA9ABFA-488D-4239-BAC5-5D1CA903D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343400"/>
            <a:ext cx="11029950" cy="1447800"/>
          </a:xfrm>
          <a:prstGeom xmlns:a="http://schemas.openxmlformats.org/drawingml/2006/main" prst="roundRect">
            <a:avLst>
              <a:gd name="adj" fmla="val 5263"/>
            </a:avLst>
          </a:prstGeom>
          <a:solidFill xmlns:a="http://schemas.openxmlformats.org/drawingml/2006/main">
            <a:srgbClr val="FDEBEC"/>
          </a:solidFill>
          <a:ln xmlns:a="http://schemas.openxmlformats.org/drawingml/2006/main" w="9525">
            <a:solidFill>
              <a:srgbClr val="F3B6B8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98F128E-877C-42D0-B7FE-C716B7FE6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552950"/>
            <a:ext cx="1619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B92B2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00" b="1">
                <a:solidFill>
                  <a:srgbClr val="B92B2F"/>
                </a:solidFill>
                <a:latin typeface="Hiragino Sans GB"/>
                <a:ea typeface="Hiragino Sans GB"/>
                <a:cs typeface="Hiragino Sans GB"/>
              </a:rPr>
              <a:t>安全边界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DED7BE2-6452-4926-A0DD-FBCD6E94C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010150"/>
            <a:ext cx="104298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191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75" b="1">
                <a:solidFill>
                  <a:srgbClr val="17191D"/>
                </a:solidFill>
                <a:latin typeface="Hiragino Sans GB"/>
                <a:ea typeface="Hiragino Sans GB"/>
                <a:cs typeface="Hiragino Sans GB"/>
              </a:rPr>
              <a:t>AI 可以读代码、改代码、跑测试、发起部署、检查网页。助记词、私钥、钱包密码和签名只留在学员本机。提交与推送必须先得到学员明确授权。</a:t>
            </a:r>
          </a:p>
        </p:txBody>
      </p:sp>
    </p:spTree>
    <p:extLst>
      <p:ext uri="{BB962C8B-B14F-4D97-AF65-F5344CB8AC3E}">
        <p14:creationId xmlns:p14="http://schemas.microsoft.com/office/powerpoint/2010/main" val="80479416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37F2CEB-3974-4D97-A2DD-7515A6A7F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52425"/>
            <a:ext cx="10144125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191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550" b="1">
                <a:solidFill>
                  <a:srgbClr val="17191D"/>
                </a:solidFill>
                <a:latin typeface="Hiragino Sans GB"/>
                <a:ea typeface="Hiragino Sans GB"/>
                <a:cs typeface="Hiragino Sans GB"/>
              </a:rPr>
              <a:t>合约决定交易规则，前端只负责发出请求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EED4698-A600-4FA4-A451-6BEF9B702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428625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E84142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1">
                <a:solidFill>
                  <a:srgbClr val="E84142"/>
                </a:solidFill>
                <a:latin typeface="Hiragino Sans GB"/>
                <a:ea typeface="Hiragino Sans GB"/>
                <a:cs typeface="Hiragino Sans GB"/>
              </a:rPr>
              <a:t>03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D37F033-5261-474A-99F8-5B8729395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981075"/>
            <a:ext cx="110299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0C493CA-0CB1-4FDB-84FF-D156BBE50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29375"/>
            <a:ext cx="723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F667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75" b="1">
                <a:solidFill>
                  <a:srgbClr val="5F6670"/>
                </a:solidFill>
                <a:latin typeface="Hiragino Sans GB"/>
                <a:ea typeface="Hiragino Sans GB"/>
                <a:cs typeface="Hiragino Sans GB"/>
              </a:rPr>
              <a:t>机制基础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848DD16-D651-487A-8850-5E7C139ED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6429375"/>
            <a:ext cx="2952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F667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75" b="0">
                <a:solidFill>
                  <a:srgbClr val="5F6670"/>
                </a:solidFill>
                <a:latin typeface="Hiragino Sans GB"/>
                <a:ea typeface="Hiragino Sans GB"/>
                <a:cs typeface="Hiragino Sans GB"/>
              </a:rPr>
              <a:t>Fuji Testnet · 测试资产无价值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33C158B-885C-4AA0-B4C1-0DB3BFB1F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00250"/>
            <a:ext cx="1952625" cy="2000250"/>
          </a:xfrm>
          <a:prstGeom xmlns:a="http://schemas.openxmlformats.org/drawingml/2006/main" prst="roundRect">
            <a:avLst>
              <a:gd name="adj" fmla="val 3902"/>
            </a:avLst>
          </a:prstGeom>
          <a:solidFill xmlns:a="http://schemas.openxmlformats.org/drawingml/2006/main">
            <a:srgbClr val="F4F6F8"/>
          </a:solidFill>
          <a:ln xmlns:a="http://schemas.openxmlformats.org/drawingml/2006/main" w="9525">
            <a:solidFill>
              <a:srgbClr val="D9DEE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29FBCA5-3BC2-46D3-B112-411843707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324100"/>
            <a:ext cx="16097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17191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00" b="1">
                <a:solidFill>
                  <a:srgbClr val="17191D"/>
                </a:solidFill>
                <a:latin typeface="Hiragino Sans GB"/>
                <a:ea typeface="Hiragino Sans GB"/>
                <a:cs typeface="Hiragino Sans GB"/>
              </a:rPr>
              <a:t>学员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5A06AB9-987D-4793-A310-5AB1F0476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009900"/>
            <a:ext cx="16097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5F667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425" b="0">
                <a:solidFill>
                  <a:srgbClr val="5F6670"/>
                </a:solidFill>
                <a:latin typeface="Hiragino Sans GB"/>
                <a:ea typeface="Hiragino Sans GB"/>
                <a:cs typeface="Hiragino Sans GB"/>
              </a:rPr>
              <a:t>输入数量</a:t>
            </a:r>
          </a:p>
          <a:p xmlns:a="http://schemas.openxmlformats.org/drawingml/2006/main">
            <a:pPr algn="ctr">
              <a:defRPr sz="1425" b="0">
                <a:solidFill>
                  <a:srgbClr val="5F667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425" b="0">
                <a:solidFill>
                  <a:srgbClr val="5F6670"/>
                </a:solidFill>
                <a:latin typeface="Hiragino Sans GB"/>
                <a:ea typeface="Hiragino Sans GB"/>
                <a:cs typeface="Hiragino Sans GB"/>
              </a:rPr>
              <a:t>点击 Swap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1943697-742E-44F2-B2F4-EB09EDDE8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67025" y="2676525"/>
            <a:ext cx="3143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150" b="1">
                <a:solidFill>
                  <a:srgbClr val="E84142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150" b="1">
                <a:solidFill>
                  <a:srgbClr val="E84142"/>
                </a:solidFill>
                <a:latin typeface="Hiragino Sans GB"/>
                <a:ea typeface="Hiragino Sans GB"/>
                <a:cs typeface="Hiragino Sans GB"/>
              </a:rPr>
              <a:t>›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6D2170D-9ED4-44C5-B7DE-72800B5A3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2000250"/>
            <a:ext cx="1952625" cy="2000250"/>
          </a:xfrm>
          <a:prstGeom xmlns:a="http://schemas.openxmlformats.org/drawingml/2006/main" prst="roundRect">
            <a:avLst>
              <a:gd name="adj" fmla="val 3902"/>
            </a:avLst>
          </a:prstGeom>
          <a:solidFill xmlns:a="http://schemas.openxmlformats.org/drawingml/2006/main">
            <a:srgbClr val="F4F6F8"/>
          </a:solidFill>
          <a:ln xmlns:a="http://schemas.openxmlformats.org/drawingml/2006/main" w="9525">
            <a:solidFill>
              <a:srgbClr val="D9DEE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50733F1-7DF6-4AB9-8BC9-4DE512A67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2324100"/>
            <a:ext cx="16097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17191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00" b="1">
                <a:solidFill>
                  <a:srgbClr val="17191D"/>
                </a:solidFill>
                <a:latin typeface="Hiragino Sans GB"/>
                <a:ea typeface="Hiragino Sans GB"/>
                <a:cs typeface="Hiragino Sans GB"/>
              </a:rPr>
              <a:t>前端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65F6DD3-5B9E-40F5-BA48-D585EAEE4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3009900"/>
            <a:ext cx="16097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5F667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425" b="0">
                <a:solidFill>
                  <a:srgbClr val="5F6670"/>
                </a:solidFill>
                <a:latin typeface="Hiragino Sans GB"/>
                <a:ea typeface="Hiragino Sans GB"/>
                <a:cs typeface="Hiragino Sans GB"/>
              </a:rPr>
              <a:t>读取余额</a:t>
            </a:r>
          </a:p>
          <a:p xmlns:a="http://schemas.openxmlformats.org/drawingml/2006/main">
            <a:pPr algn="ctr">
              <a:defRPr sz="1425" b="0">
                <a:solidFill>
                  <a:srgbClr val="5F667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425" b="0">
                <a:solidFill>
                  <a:srgbClr val="5F6670"/>
                </a:solidFill>
                <a:latin typeface="Hiragino Sans GB"/>
                <a:ea typeface="Hiragino Sans GB"/>
                <a:cs typeface="Hiragino Sans GB"/>
              </a:rPr>
              <a:t>组装交易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1EC827A-97A7-4DB0-B6E5-5BAC7CEC8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625" y="2676525"/>
            <a:ext cx="3143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150" b="1">
                <a:solidFill>
                  <a:srgbClr val="E84142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150" b="1">
                <a:solidFill>
                  <a:srgbClr val="E84142"/>
                </a:solidFill>
                <a:latin typeface="Hiragino Sans GB"/>
                <a:ea typeface="Hiragino Sans GB"/>
                <a:cs typeface="Hiragino Sans GB"/>
              </a:rPr>
              <a:t>›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6BDDB44-86BB-40CE-9A03-0ACD2E6CB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000250"/>
            <a:ext cx="1952625" cy="2000250"/>
          </a:xfrm>
          <a:prstGeom xmlns:a="http://schemas.openxmlformats.org/drawingml/2006/main" prst="roundRect">
            <a:avLst>
              <a:gd name="adj" fmla="val 3902"/>
            </a:avLst>
          </a:prstGeom>
          <a:solidFill xmlns:a="http://schemas.openxmlformats.org/drawingml/2006/main">
            <a:srgbClr val="E84142"/>
          </a:solidFill>
          <a:ln xmlns:a="http://schemas.openxmlformats.org/drawingml/2006/main" w="9525">
            <a:solidFill>
              <a:srgbClr val="E84142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817907F-0E44-4272-8618-B3EC282CD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324100"/>
            <a:ext cx="16097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0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rPr>
              <a:t>合约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2C44D24-6270-46AC-8D31-9A225B0D9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3009900"/>
            <a:ext cx="16097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425" b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rPr>
              <a:t>验算规则</a:t>
            </a:r>
          </a:p>
          <a:p xmlns:a="http://schemas.openxmlformats.org/drawingml/2006/main">
            <a:pPr algn="ctr">
              <a:defRPr sz="1425" b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425" b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rPr>
              <a:t>更新储备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162DE42-F5DE-4820-9129-54C6738B2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96225" y="2676525"/>
            <a:ext cx="3143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150" b="1">
                <a:solidFill>
                  <a:srgbClr val="E84142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150" b="1">
                <a:solidFill>
                  <a:srgbClr val="E84142"/>
                </a:solidFill>
                <a:latin typeface="Hiragino Sans GB"/>
                <a:ea typeface="Hiragino Sans GB"/>
                <a:cs typeface="Hiragino Sans GB"/>
              </a:rPr>
              <a:t>›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CCB7E5C-AA36-40F9-8A1C-E1B00893B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000250"/>
            <a:ext cx="1952625" cy="2000250"/>
          </a:xfrm>
          <a:prstGeom xmlns:a="http://schemas.openxmlformats.org/drawingml/2006/main" prst="roundRect">
            <a:avLst>
              <a:gd name="adj" fmla="val 3902"/>
            </a:avLst>
          </a:prstGeom>
          <a:solidFill xmlns:a="http://schemas.openxmlformats.org/drawingml/2006/main">
            <a:srgbClr val="F4F6F8"/>
          </a:solidFill>
          <a:ln xmlns:a="http://schemas.openxmlformats.org/drawingml/2006/main" w="9525">
            <a:solidFill>
              <a:srgbClr val="D9DEE4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AD6EB37-CF36-47E5-9C17-D53781F3B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324100"/>
            <a:ext cx="16097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17191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00" b="1">
                <a:solidFill>
                  <a:srgbClr val="17191D"/>
                </a:solidFill>
                <a:latin typeface="Hiragino Sans GB"/>
                <a:ea typeface="Hiragino Sans GB"/>
                <a:cs typeface="Hiragino Sans GB"/>
              </a:rPr>
              <a:t>资金池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09BA624-3404-49DE-8BF9-40BB745BF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3009900"/>
            <a:ext cx="16097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5F667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425" b="0">
                <a:solidFill>
                  <a:srgbClr val="5F6670"/>
                </a:solidFill>
                <a:latin typeface="Hiragino Sans GB"/>
                <a:ea typeface="Hiragino Sans GB"/>
                <a:cs typeface="Hiragino Sans GB"/>
              </a:rPr>
              <a:t>AVAX</a:t>
            </a:r>
          </a:p>
          <a:p xmlns:a="http://schemas.openxmlformats.org/drawingml/2006/main">
            <a:pPr algn="ctr">
              <a:defRPr sz="1425" b="0">
                <a:solidFill>
                  <a:srgbClr val="5F667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425" b="0">
                <a:solidFill>
                  <a:srgbClr val="5F6670"/>
                </a:solidFill>
                <a:latin typeface="Hiragino Sans GB"/>
                <a:ea typeface="Hiragino Sans GB"/>
                <a:cs typeface="Hiragino Sans GB"/>
              </a:rPr>
              <a:t>COURSE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C8ED787-50E1-4F37-B78A-827F281C8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4657725"/>
            <a:ext cx="1143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5F667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1">
                <a:solidFill>
                  <a:srgbClr val="5F6670"/>
                </a:solidFill>
                <a:latin typeface="Hiragino Sans GB"/>
                <a:ea typeface="Hiragino Sans GB"/>
                <a:cs typeface="Hiragino Sans GB"/>
              </a:rPr>
              <a:t>改前端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0AD06C8-551C-4932-A76E-FA39964E9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4648200"/>
            <a:ext cx="266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191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1">
                <a:solidFill>
                  <a:srgbClr val="17191D"/>
                </a:solidFill>
                <a:latin typeface="Hiragino Sans GB"/>
                <a:ea typeface="Hiragino Sans GB"/>
                <a:cs typeface="Hiragino Sans GB"/>
              </a:rPr>
              <a:t>可能只改变显示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E730B5F-42C5-433B-A278-E27D28AE6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5238750"/>
            <a:ext cx="1143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E84142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1">
                <a:solidFill>
                  <a:srgbClr val="E84142"/>
                </a:solidFill>
                <a:latin typeface="Hiragino Sans GB"/>
                <a:ea typeface="Hiragino Sans GB"/>
                <a:cs typeface="Hiragino Sans GB"/>
              </a:rPr>
              <a:t>改合约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6EAAD8C-63D6-4768-B819-CC3916A97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5219700"/>
            <a:ext cx="6191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191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1">
                <a:solidFill>
                  <a:srgbClr val="17191D"/>
                </a:solidFill>
                <a:latin typeface="Hiragino Sans GB"/>
                <a:ea typeface="Hiragino Sans GB"/>
                <a:cs typeface="Hiragino Sans GB"/>
              </a:rPr>
              <a:t>会改变每一笔链上交易的结果</a:t>
            </a:r>
          </a:p>
        </p:txBody>
      </p:sp>
    </p:spTree>
    <p:extLst>
      <p:ext uri="{BB962C8B-B14F-4D97-AF65-F5344CB8AC3E}">
        <p14:creationId xmlns:p14="http://schemas.microsoft.com/office/powerpoint/2010/main" val="212814146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9F640FE-F04B-4832-8353-FE9B40CE9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52425"/>
            <a:ext cx="10144125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191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550" b="1">
                <a:solidFill>
                  <a:srgbClr val="17191D"/>
                </a:solidFill>
                <a:latin typeface="Hiragino Sans GB"/>
                <a:ea typeface="Hiragino Sans GB"/>
                <a:cs typeface="Hiragino Sans GB"/>
              </a:rPr>
              <a:t>x × y = k：一次 Swap 会移动储备点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483C998-0D6A-4CF6-944F-9E8D859FE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428625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E84142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1">
                <a:solidFill>
                  <a:srgbClr val="E84142"/>
                </a:solidFill>
                <a:latin typeface="Hiragino Sans GB"/>
                <a:ea typeface="Hiragino Sans GB"/>
                <a:cs typeface="Hiragino Sans GB"/>
              </a:rPr>
              <a:t>04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94C11B0-BA13-4E94-AC59-D05C5FA5C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981075"/>
            <a:ext cx="110299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10D8D7A-1B22-45C3-91CA-F4397B467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29375"/>
            <a:ext cx="723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F667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75" b="1">
                <a:solidFill>
                  <a:srgbClr val="5F6670"/>
                </a:solidFill>
                <a:latin typeface="Hiragino Sans GB"/>
                <a:ea typeface="Hiragino Sans GB"/>
                <a:cs typeface="Hiragino Sans GB"/>
              </a:rPr>
              <a:t>机制基础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0A66539-6F6D-47D8-815E-5B62E1B15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6429375"/>
            <a:ext cx="2952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F667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75" b="0">
                <a:solidFill>
                  <a:srgbClr val="5F6670"/>
                </a:solidFill>
                <a:latin typeface="Hiragino Sans GB"/>
                <a:ea typeface="Hiragino Sans GB"/>
                <a:cs typeface="Hiragino Sans GB"/>
              </a:rPr>
              <a:t>Fuji Testnet · 测试资产无价值</a:t>
            </a:r>
          </a:p>
        </p:txBody>
      </p:sp>
      <p:graphicFrame>
        <p:nvGraphicFramePr>
          <p:cNvPr id="21" name="Chart"/>
          <p:cNvGraphicFramePr/>
          <p:nvPr/>
        </p:nvGraphicFramePr>
        <p:xfrm>
          <a:off xmlns:a="http://schemas.openxmlformats.org/drawingml/2006/main" x="514350" y="1381125"/>
          <a:ext xmlns:a="http://schemas.openxmlformats.org/drawingml/2006/main" cx="6438900" cy="4476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a0dce43497e14b9b"/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A1A937E-C363-4869-AA3D-5BFB9D87E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1514475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F667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75" b="1">
                <a:solidFill>
                  <a:srgbClr val="5F6670"/>
                </a:solidFill>
                <a:latin typeface="Hiragino Sans GB"/>
                <a:ea typeface="Hiragino Sans GB"/>
                <a:cs typeface="Hiragino Sans GB"/>
              </a:rPr>
              <a:t>初始储备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6B264F4-D2A2-4F33-A574-5CF09D8FC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1885950"/>
            <a:ext cx="3714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7191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1">
                <a:solidFill>
                  <a:srgbClr val="17191D"/>
                </a:solidFill>
                <a:latin typeface="Hiragino Sans GB"/>
                <a:ea typeface="Hiragino Sans GB"/>
                <a:cs typeface="Hiragino Sans GB"/>
              </a:rPr>
              <a:t>100 AVAX ×</a:t>
            </a:r>
          </a:p>
          <a:p xmlns:a="http://schemas.openxmlformats.org/drawingml/2006/main">
            <a:pPr algn="l">
              <a:defRPr sz="2025" b="1">
                <a:solidFill>
                  <a:srgbClr val="17191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1">
                <a:solidFill>
                  <a:srgbClr val="17191D"/>
                </a:solidFill>
                <a:latin typeface="Hiragino Sans GB"/>
                <a:ea typeface="Hiragino Sans GB"/>
                <a:cs typeface="Hiragino Sans GB"/>
              </a:rPr>
              <a:t>100 COURSE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0FE81C3-9F34-43BD-989B-5D6E71F0C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638425"/>
            <a:ext cx="247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E84142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75" b="0">
                <a:solidFill>
                  <a:srgbClr val="E84142"/>
                </a:solidFill>
                <a:latin typeface="Hiragino Sans GB"/>
                <a:ea typeface="Hiragino Sans GB"/>
                <a:cs typeface="Hiragino Sans GB"/>
              </a:rPr>
              <a:t>k = 10,000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6B30AC7-9911-4302-95AC-46A323050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114675"/>
            <a:ext cx="3733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C9B0536-B8E8-44A6-9E3C-764EC610D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381375"/>
            <a:ext cx="228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F667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75" b="1">
                <a:solidFill>
                  <a:srgbClr val="5F6670"/>
                </a:solidFill>
                <a:latin typeface="Hiragino Sans GB"/>
                <a:ea typeface="Hiragino Sans GB"/>
                <a:cs typeface="Hiragino Sans GB"/>
              </a:rPr>
              <a:t>买入 COURSE 后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8E13FBD-2DDD-4654-9C29-23A326D52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762375"/>
            <a:ext cx="3714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7191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75" b="1">
                <a:solidFill>
                  <a:srgbClr val="17191D"/>
                </a:solidFill>
                <a:latin typeface="Hiragino Sans GB"/>
                <a:ea typeface="Hiragino Sans GB"/>
                <a:cs typeface="Hiragino Sans GB"/>
              </a:rPr>
              <a:t>AVAX 增加，COURSE 减少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879ECA3-7D63-44A2-BC19-91F7E7A54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410075"/>
            <a:ext cx="3714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191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75" b="0">
                <a:solidFill>
                  <a:srgbClr val="17191D"/>
                </a:solidFill>
                <a:latin typeface="Hiragino Sans GB"/>
                <a:ea typeface="Hiragino Sans GB"/>
                <a:cs typeface="Hiragino Sans GB"/>
              </a:rPr>
              <a:t>池越浅，同样输入造成的价格移动越大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4C77F25-FBB2-41B0-A9A3-73051D2F3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5219700"/>
            <a:ext cx="37338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1719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338C851-09CE-4886-9BD0-AEE9561C9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5343525"/>
            <a:ext cx="33909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rPr>
              <a:t>合约负责让交易后仍满足不变量</a:t>
            </a:r>
          </a:p>
        </p:txBody>
      </p:sp>
    </p:spTree>
    <p:extLst>
      <p:ext uri="{BB962C8B-B14F-4D97-AF65-F5344CB8AC3E}">
        <p14:creationId xmlns:p14="http://schemas.microsoft.com/office/powerpoint/2010/main" val="166835696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AB8C6EC-5735-4117-91E0-20194187E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52425"/>
            <a:ext cx="10144125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191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550" b="1">
                <a:solidFill>
                  <a:srgbClr val="17191D"/>
                </a:solidFill>
                <a:latin typeface="Hiragino Sans GB"/>
                <a:ea typeface="Hiragino Sans GB"/>
                <a:cs typeface="Hiragino Sans GB"/>
              </a:rPr>
              <a:t>手续费留下价值，滑点反映池子的深度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779197E-23C2-4436-A43F-EE05E25C7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428625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E84142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1">
                <a:solidFill>
                  <a:srgbClr val="E84142"/>
                </a:solidFill>
                <a:latin typeface="Hiragino Sans GB"/>
                <a:ea typeface="Hiragino Sans GB"/>
                <a:cs typeface="Hiragino Sans GB"/>
              </a:rPr>
              <a:t>05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A56C032-3D47-4922-9B90-260DCB361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981075"/>
            <a:ext cx="110299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ED94C81-9016-49FD-8588-5E1478A69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29375"/>
            <a:ext cx="723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F667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75" b="1">
                <a:solidFill>
                  <a:srgbClr val="5F6670"/>
                </a:solidFill>
                <a:latin typeface="Hiragino Sans GB"/>
                <a:ea typeface="Hiragino Sans GB"/>
                <a:cs typeface="Hiragino Sans GB"/>
              </a:rPr>
              <a:t>机制基础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15E15E6-41CA-4784-8B33-DE723D561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6429375"/>
            <a:ext cx="2952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F667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75" b="0">
                <a:solidFill>
                  <a:srgbClr val="5F6670"/>
                </a:solidFill>
                <a:latin typeface="Hiragino Sans GB"/>
                <a:ea typeface="Hiragino Sans GB"/>
                <a:cs typeface="Hiragino Sans GB"/>
              </a:rPr>
              <a:t>Fuji Testnet · 测试资产无价值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B127A2D-6545-4849-A823-23CBFE588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276350"/>
            <a:ext cx="8953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F667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0">
                <a:solidFill>
                  <a:srgbClr val="5F6670"/>
                </a:solidFill>
                <a:latin typeface="Hiragino Sans GB"/>
                <a:ea typeface="Hiragino Sans GB"/>
                <a:cs typeface="Hiragino Sans GB"/>
              </a:rPr>
              <a:t>示例：池中有 100 AVAX 与 100 COURSE，输入 10 AVAX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DCD2161-D9E6-4C9B-B381-F8CB79208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019300"/>
            <a:ext cx="6191250" cy="72390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F4F6F8"/>
          </a:solidFill>
          <a:ln xmlns:a="http://schemas.openxmlformats.org/drawingml/2006/main" w="9525">
            <a:solidFill>
              <a:srgbClr val="D9DEE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4E3B4D2-1942-4365-AC9D-04EFD7199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228850"/>
            <a:ext cx="33337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191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0">
                <a:solidFill>
                  <a:srgbClr val="17191D"/>
                </a:solidFill>
                <a:latin typeface="Hiragino Sans GB"/>
                <a:ea typeface="Hiragino Sans GB"/>
                <a:cs typeface="Hiragino Sans GB"/>
              </a:rPr>
              <a:t>输入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74D7AE3-61CD-47F5-A071-AB1928C73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2209800"/>
            <a:ext cx="2286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725" b="1">
                <a:solidFill>
                  <a:srgbClr val="17191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1">
                <a:solidFill>
                  <a:srgbClr val="17191D"/>
                </a:solidFill>
                <a:latin typeface="Hiragino Sans GB"/>
                <a:ea typeface="Hiragino Sans GB"/>
                <a:cs typeface="Hiragino Sans GB"/>
              </a:rPr>
              <a:t>10.000 AVAX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2B8EDE8-5E41-4E5D-836C-63273B931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971800"/>
            <a:ext cx="6191250" cy="72390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FDEBEC"/>
          </a:solidFill>
          <a:ln xmlns:a="http://schemas.openxmlformats.org/drawingml/2006/main" w="9525">
            <a:solidFill>
              <a:srgbClr val="D9DEE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4636F15-6A52-4948-BB3E-1EDE550CD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181350"/>
            <a:ext cx="33337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191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1">
                <a:solidFill>
                  <a:srgbClr val="17191D"/>
                </a:solidFill>
                <a:latin typeface="Hiragino Sans GB"/>
                <a:ea typeface="Hiragino Sans GB"/>
                <a:cs typeface="Hiragino Sans GB"/>
              </a:rPr>
              <a:t>扣除 0.3% 费用后参与定价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4E13567-9C4B-47FE-935A-D5B364E91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3162300"/>
            <a:ext cx="2286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725" b="1">
                <a:solidFill>
                  <a:srgbClr val="B92B2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1">
                <a:solidFill>
                  <a:srgbClr val="B92B2F"/>
                </a:solidFill>
                <a:latin typeface="Hiragino Sans GB"/>
                <a:ea typeface="Hiragino Sans GB"/>
                <a:cs typeface="Hiragino Sans GB"/>
              </a:rPr>
              <a:t>9.970 AVAX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31CEDCE-6542-493E-B8A6-5AD2FAD8E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924300"/>
            <a:ext cx="6191250" cy="72390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E8F5EE"/>
          </a:solidFill>
          <a:ln xmlns:a="http://schemas.openxmlformats.org/drawingml/2006/main" w="9525">
            <a:solidFill>
              <a:srgbClr val="D9DEE4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D932398-1922-427A-A6A3-189A779A2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133850"/>
            <a:ext cx="33337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191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0">
                <a:solidFill>
                  <a:srgbClr val="17191D"/>
                </a:solidFill>
                <a:latin typeface="Hiragino Sans GB"/>
                <a:ea typeface="Hiragino Sans GB"/>
                <a:cs typeface="Hiragino Sans GB"/>
              </a:rPr>
              <a:t>预计得到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5793465-8854-433A-98B2-8E196ABBB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4114800"/>
            <a:ext cx="2286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725" b="1">
                <a:solidFill>
                  <a:srgbClr val="17191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1">
                <a:solidFill>
                  <a:srgbClr val="17191D"/>
                </a:solidFill>
                <a:latin typeface="Hiragino Sans GB"/>
                <a:ea typeface="Hiragino Sans GB"/>
                <a:cs typeface="Hiragino Sans GB"/>
              </a:rPr>
              <a:t>≈ 9.066 COURSE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41BFE20-6450-452D-8CA5-408DF919F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2000250"/>
            <a:ext cx="4324350" cy="2647950"/>
          </a:xfrm>
          <a:prstGeom xmlns:a="http://schemas.openxmlformats.org/drawingml/2006/main" prst="roundRect">
            <a:avLst>
              <a:gd name="adj" fmla="val 2878"/>
            </a:avLst>
          </a:prstGeom>
          <a:solidFill xmlns:a="http://schemas.openxmlformats.org/drawingml/2006/main">
            <a:srgbClr val="1719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F8ADB18-500E-4128-8C38-2C46D63C0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2295525"/>
            <a:ext cx="3524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B2B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650" b="1">
                <a:solidFill>
                  <a:srgbClr val="FFB2B3"/>
                </a:solidFill>
                <a:latin typeface="Hiragino Sans GB"/>
                <a:ea typeface="Hiragino Sans GB"/>
                <a:cs typeface="Hiragino Sans GB"/>
              </a:rPr>
              <a:t>amountOut =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65390AC-11C8-4220-BD39-03D4D40A0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2771775"/>
            <a:ext cx="3333750" cy="1304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0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rPr>
              <a:t>y × amountInFee</a:t>
            </a:r>
          </a:p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0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rPr>
              <a:t>──────────────</a:t>
            </a:r>
          </a:p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0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rPr>
              <a:t>x + amountInFee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ACCD01C-DDEF-4BE5-BE39-BE9D52B17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5000625"/>
            <a:ext cx="43243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191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75" b="1">
                <a:solidFill>
                  <a:srgbClr val="17191D"/>
                </a:solidFill>
                <a:latin typeface="Hiragino Sans GB"/>
                <a:ea typeface="Hiragino Sans GB"/>
                <a:cs typeface="Hiragino Sans GB"/>
              </a:rPr>
              <a:t>滑点不是额外收费；它来自交易改变了储备比例</a:t>
            </a:r>
          </a:p>
        </p:txBody>
      </p:sp>
    </p:spTree>
    <p:extLst>
      <p:ext uri="{BB962C8B-B14F-4D97-AF65-F5344CB8AC3E}">
        <p14:creationId xmlns:p14="http://schemas.microsoft.com/office/powerpoint/2010/main" val="69448688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5190436-533A-4B01-85CF-374AF5A51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52425"/>
            <a:ext cx="10144125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191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550" b="1">
                <a:solidFill>
                  <a:srgbClr val="17191D"/>
                </a:solidFill>
                <a:latin typeface="Hiragino Sans GB"/>
                <a:ea typeface="Hiragino Sans GB"/>
                <a:cs typeface="Hiragino Sans GB"/>
              </a:rPr>
              <a:t>教学版保留核心机制，删去生产协议复杂度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B9BC72E-7B15-4A2A-87C9-7CA6450D5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428625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E84142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1">
                <a:solidFill>
                  <a:srgbClr val="E84142"/>
                </a:solidFill>
                <a:latin typeface="Hiragino Sans GB"/>
                <a:ea typeface="Hiragino Sans GB"/>
                <a:cs typeface="Hiragino Sans GB"/>
              </a:rPr>
              <a:t>06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FD7903F-C456-439B-9395-D08BD510D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981075"/>
            <a:ext cx="110299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206BA19-33E0-4120-808A-A47784926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29375"/>
            <a:ext cx="723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F667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75" b="1">
                <a:solidFill>
                  <a:srgbClr val="5F6670"/>
                </a:solidFill>
                <a:latin typeface="Hiragino Sans GB"/>
                <a:ea typeface="Hiragino Sans GB"/>
                <a:cs typeface="Hiragino Sans GB"/>
              </a:rPr>
              <a:t>机制基础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044EECE-332F-402B-B872-66DA466B7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6429375"/>
            <a:ext cx="2952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F667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75" b="0">
                <a:solidFill>
                  <a:srgbClr val="5F6670"/>
                </a:solidFill>
                <a:latin typeface="Hiragino Sans GB"/>
                <a:ea typeface="Hiragino Sans GB"/>
                <a:cs typeface="Hiragino Sans GB"/>
              </a:rPr>
              <a:t>Fuji Testnet · 测试资产无价值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C74B755-384A-4F3F-963C-D59CD910B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247775"/>
            <a:ext cx="7429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F667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0">
                <a:solidFill>
                  <a:srgbClr val="5F6670"/>
                </a:solidFill>
                <a:latin typeface="Hiragino Sans GB"/>
                <a:ea typeface="Hiragino Sans GB"/>
                <a:cs typeface="Hiragino Sans GB"/>
              </a:rPr>
              <a:t>课堂要看懂机制，也要看见删减带来的边界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EBD7B44-94E0-47E6-A4AB-97237F0D6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952625"/>
            <a:ext cx="2286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E84142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00" b="1">
                <a:solidFill>
                  <a:srgbClr val="E84142"/>
                </a:solidFill>
                <a:latin typeface="Hiragino Sans GB"/>
                <a:ea typeface="Hiragino Sans GB"/>
                <a:cs typeface="Hiragino Sans GB"/>
              </a:rPr>
              <a:t>教学版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DF08BE3-6914-4626-A184-565B5F453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952625"/>
            <a:ext cx="3143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7191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00" b="1">
                <a:solidFill>
                  <a:srgbClr val="17191D"/>
                </a:solidFill>
                <a:latin typeface="Hiragino Sans GB"/>
                <a:ea typeface="Hiragino Sans GB"/>
                <a:cs typeface="Hiragino Sans GB"/>
              </a:rPr>
              <a:t>完整 Uniswap V2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C754B28-C376-4B31-A7EE-67E0140C4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619375"/>
            <a:ext cx="4210050" cy="523875"/>
          </a:xfrm>
          <a:prstGeom xmlns:a="http://schemas.openxmlformats.org/drawingml/2006/main" prst="roundRect">
            <a:avLst>
              <a:gd name="adj" fmla="val 14545"/>
            </a:avLst>
          </a:prstGeom>
          <a:solidFill xmlns:a="http://schemas.openxmlformats.org/drawingml/2006/main">
            <a:srgbClr val="FDEB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FBD5A9A-658B-4202-84C7-3838824DC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2752725"/>
            <a:ext cx="38481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7191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425" b="1">
                <a:solidFill>
                  <a:srgbClr val="17191D"/>
                </a:solidFill>
                <a:latin typeface="Hiragino Sans GB"/>
                <a:ea typeface="Hiragino Sans GB"/>
                <a:cs typeface="Hiragino Sans GB"/>
              </a:rPr>
              <a:t>一个 AVAX / COURSE 池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CD41C67-80C6-4538-B395-27E887966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2752725"/>
            <a:ext cx="781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5F667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1">
                <a:solidFill>
                  <a:srgbClr val="5F6670"/>
                </a:solidFill>
                <a:latin typeface="Hiragino Sans GB"/>
                <a:ea typeface="Hiragino Sans GB"/>
                <a:cs typeface="Hiragino Sans GB"/>
              </a:rPr>
              <a:t>对应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8B5E30E-28CF-4B8E-B7B3-15E6218BE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619375"/>
            <a:ext cx="4762500" cy="523875"/>
          </a:xfrm>
          <a:prstGeom xmlns:a="http://schemas.openxmlformats.org/drawingml/2006/main" prst="roundRect">
            <a:avLst>
              <a:gd name="adj" fmla="val 14545"/>
            </a:avLst>
          </a:prstGeom>
          <a:solidFill xmlns:a="http://schemas.openxmlformats.org/drawingml/2006/main">
            <a:srgbClr val="F4F6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F58E4DE-C71E-4495-A4CF-09619F8C4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752725"/>
            <a:ext cx="43815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191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425" b="0">
                <a:solidFill>
                  <a:srgbClr val="17191D"/>
                </a:solidFill>
                <a:latin typeface="Hiragino Sans GB"/>
                <a:ea typeface="Hiragino Sans GB"/>
                <a:cs typeface="Hiragino Sans GB"/>
              </a:rPr>
              <a:t>Factory 可创建多个 Pair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F157707-3B06-43A7-B4E4-6A60A7CCD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352800"/>
            <a:ext cx="4210050" cy="523875"/>
          </a:xfrm>
          <a:prstGeom xmlns:a="http://schemas.openxmlformats.org/drawingml/2006/main" prst="roundRect">
            <a:avLst>
              <a:gd name="adj" fmla="val 14545"/>
            </a:avLst>
          </a:prstGeom>
          <a:solidFill xmlns:a="http://schemas.openxmlformats.org/drawingml/2006/main">
            <a:srgbClr val="F4F6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AF9B466-37BF-49C8-820D-46754FFEF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3486150"/>
            <a:ext cx="38481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191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425" b="0">
                <a:solidFill>
                  <a:srgbClr val="17191D"/>
                </a:solidFill>
                <a:latin typeface="Hiragino Sans GB"/>
                <a:ea typeface="Hiragino Sans GB"/>
                <a:cs typeface="Hiragino Sans GB"/>
              </a:rPr>
              <a:t>恒定乘积 + 手续费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645DA20-C001-4B98-B46B-85296E4CF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3486150"/>
            <a:ext cx="781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5F667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1">
                <a:solidFill>
                  <a:srgbClr val="5F6670"/>
                </a:solidFill>
                <a:latin typeface="Hiragino Sans GB"/>
                <a:ea typeface="Hiragino Sans GB"/>
                <a:cs typeface="Hiragino Sans GB"/>
              </a:rPr>
              <a:t>对应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8B36D05-3A97-46D8-82EF-D11AB292F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352800"/>
            <a:ext cx="4762500" cy="523875"/>
          </a:xfrm>
          <a:prstGeom xmlns:a="http://schemas.openxmlformats.org/drawingml/2006/main" prst="roundRect">
            <a:avLst>
              <a:gd name="adj" fmla="val 14545"/>
            </a:avLst>
          </a:prstGeom>
          <a:solidFill xmlns:a="http://schemas.openxmlformats.org/drawingml/2006/main">
            <a:srgbClr val="F4F6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B502764-26D9-4B78-BB62-E22F4E45E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486150"/>
            <a:ext cx="43815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191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425" b="0">
                <a:solidFill>
                  <a:srgbClr val="17191D"/>
                </a:solidFill>
                <a:latin typeface="Hiragino Sans GB"/>
                <a:ea typeface="Hiragino Sans GB"/>
                <a:cs typeface="Hiragino Sans GB"/>
              </a:rPr>
              <a:t>Pair 合约执行核心不变量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92535C9-8B56-4568-8BE1-328C7552C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86225"/>
            <a:ext cx="4210050" cy="523875"/>
          </a:xfrm>
          <a:prstGeom xmlns:a="http://schemas.openxmlformats.org/drawingml/2006/main" prst="roundRect">
            <a:avLst>
              <a:gd name="adj" fmla="val 14545"/>
            </a:avLst>
          </a:prstGeom>
          <a:solidFill xmlns:a="http://schemas.openxmlformats.org/drawingml/2006/main">
            <a:srgbClr val="F4F6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D0E687E-6923-4CD2-99BC-ABDC4A4A3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4219575"/>
            <a:ext cx="38481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191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425" b="0">
                <a:solidFill>
                  <a:srgbClr val="17191D"/>
                </a:solidFill>
                <a:latin typeface="Hiragino Sans GB"/>
                <a:ea typeface="Hiragino Sans GB"/>
                <a:cs typeface="Hiragino Sans GB"/>
              </a:rPr>
              <a:t>Claim / Approve / Add / Swap / Remove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923303B-5135-407B-8DFD-8198994C5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4219575"/>
            <a:ext cx="781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5F667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1">
                <a:solidFill>
                  <a:srgbClr val="5F6670"/>
                </a:solidFill>
                <a:latin typeface="Hiragino Sans GB"/>
                <a:ea typeface="Hiragino Sans GB"/>
                <a:cs typeface="Hiragino Sans GB"/>
              </a:rPr>
              <a:t>对应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47C00FA-B8BB-475F-9A6F-99DC21461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086225"/>
            <a:ext cx="4762500" cy="523875"/>
          </a:xfrm>
          <a:prstGeom xmlns:a="http://schemas.openxmlformats.org/drawingml/2006/main" prst="roundRect">
            <a:avLst>
              <a:gd name="adj" fmla="val 14545"/>
            </a:avLst>
          </a:prstGeom>
          <a:solidFill xmlns:a="http://schemas.openxmlformats.org/drawingml/2006/main">
            <a:srgbClr val="F4F6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87E90D1-2D0D-4734-86FA-56593C2EB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219575"/>
            <a:ext cx="43815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191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425" b="0">
                <a:solidFill>
                  <a:srgbClr val="17191D"/>
                </a:solidFill>
                <a:latin typeface="Hiragino Sans GB"/>
                <a:ea typeface="Hiragino Sans GB"/>
                <a:cs typeface="Hiragino Sans GB"/>
              </a:rPr>
              <a:t>Router 处理路径与流动性操作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49998D2-3E9E-49A6-A286-2FC9FBFCF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819650"/>
            <a:ext cx="4210050" cy="523875"/>
          </a:xfrm>
          <a:prstGeom xmlns:a="http://schemas.openxmlformats.org/drawingml/2006/main" prst="roundRect">
            <a:avLst>
              <a:gd name="adj" fmla="val 14545"/>
            </a:avLst>
          </a:prstGeom>
          <a:solidFill xmlns:a="http://schemas.openxmlformats.org/drawingml/2006/main">
            <a:srgbClr val="F4F6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D041BE3-9BCD-4983-90C1-CF27C3941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4953000"/>
            <a:ext cx="38481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191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425" b="0">
                <a:solidFill>
                  <a:srgbClr val="17191D"/>
                </a:solidFill>
                <a:latin typeface="Hiragino Sans GB"/>
                <a:ea typeface="Hiragino Sans GB"/>
                <a:cs typeface="Hiragino Sans GB"/>
              </a:rPr>
              <a:t>课堂测试钱包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9E218E0-5472-411F-BFC9-105619F59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4953000"/>
            <a:ext cx="781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5F667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1">
                <a:solidFill>
                  <a:srgbClr val="5F6670"/>
                </a:solidFill>
                <a:latin typeface="Hiragino Sans GB"/>
                <a:ea typeface="Hiragino Sans GB"/>
                <a:cs typeface="Hiragino Sans GB"/>
              </a:rPr>
              <a:t>对应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A4CF170-7B51-4A83-8D82-A1D327C9C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819650"/>
            <a:ext cx="4762500" cy="523875"/>
          </a:xfrm>
          <a:prstGeom xmlns:a="http://schemas.openxmlformats.org/drawingml/2006/main" prst="roundRect">
            <a:avLst>
              <a:gd name="adj" fmla="val 14545"/>
            </a:avLst>
          </a:prstGeom>
          <a:solidFill xmlns:a="http://schemas.openxmlformats.org/drawingml/2006/main">
            <a:srgbClr val="F4F6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211570E-A29F-4279-AFC7-E5C9F3C64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953000"/>
            <a:ext cx="43815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191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425" b="0">
                <a:solidFill>
                  <a:srgbClr val="17191D"/>
                </a:solidFill>
                <a:latin typeface="Hiragino Sans GB"/>
                <a:ea typeface="Hiragino Sans GB"/>
                <a:cs typeface="Hiragino Sans GB"/>
              </a:rPr>
              <a:t>生产钱包、审计与治理边界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4A59279-51B2-4AEF-8789-7A52ED4B0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829300"/>
            <a:ext cx="102489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B92B2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1">
                <a:solidFill>
                  <a:srgbClr val="B92B2F"/>
                </a:solidFill>
                <a:latin typeface="Hiragino Sans GB"/>
                <a:ea typeface="Hiragino Sans GB"/>
                <a:cs typeface="Hiragino Sans GB"/>
              </a:rPr>
              <a:t>课堂禁止：真实资产、主网部署、把教学代码包装成生产交易所</a:t>
            </a:r>
          </a:p>
        </p:txBody>
      </p:sp>
    </p:spTree>
    <p:extLst>
      <p:ext uri="{BB962C8B-B14F-4D97-AF65-F5344CB8AC3E}">
        <p14:creationId xmlns:p14="http://schemas.microsoft.com/office/powerpoint/2010/main" val="42307293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A1856DF-8FCF-436A-B2DC-DC7B4873E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52425"/>
            <a:ext cx="10144125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191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550" b="1">
                <a:solidFill>
                  <a:srgbClr val="17191D"/>
                </a:solidFill>
                <a:latin typeface="Hiragino Sans GB"/>
                <a:ea typeface="Hiragino Sans GB"/>
                <a:cs typeface="Hiragino Sans GB"/>
              </a:rPr>
              <a:t>代码仓结构：修改合约，测试守门，前端读取部署结果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47F968F-1156-47EE-9853-87D4B1EDF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428625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E84142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1">
                <a:solidFill>
                  <a:srgbClr val="E84142"/>
                </a:solidFill>
                <a:latin typeface="Hiragino Sans GB"/>
                <a:ea typeface="Hiragino Sans GB"/>
                <a:cs typeface="Hiragino Sans GB"/>
              </a:rPr>
              <a:t>07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5B88141-96E1-45EF-BEC8-60E693CED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981075"/>
            <a:ext cx="110299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2A806F2-FE0B-4C26-95A6-CAAD8165F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29375"/>
            <a:ext cx="723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F667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75" b="1">
                <a:solidFill>
                  <a:srgbClr val="5F6670"/>
                </a:solidFill>
                <a:latin typeface="Hiragino Sans GB"/>
                <a:ea typeface="Hiragino Sans GB"/>
                <a:cs typeface="Hiragino Sans GB"/>
              </a:rPr>
              <a:t>项目地图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F74B1CC-5AA4-4D0B-882E-A20E72661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6429375"/>
            <a:ext cx="2952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F667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75" b="0">
                <a:solidFill>
                  <a:srgbClr val="5F6670"/>
                </a:solidFill>
                <a:latin typeface="Hiragino Sans GB"/>
                <a:ea typeface="Hiragino Sans GB"/>
                <a:cs typeface="Hiragino Sans GB"/>
              </a:rPr>
              <a:t>Fuji Testnet · 测试资产无价值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F64019A-A2CC-4155-973B-F3D0C1064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524000"/>
            <a:ext cx="428625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4F6F8"/>
          </a:solidFill>
          <a:ln xmlns:a="http://schemas.openxmlformats.org/drawingml/2006/main" w="9525">
            <a:solidFill>
              <a:srgbClr val="D9DEE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C31A635-73D2-45EC-A229-CA97E5978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524000"/>
            <a:ext cx="85725" cy="5905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414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EC2A5F2-B967-4F92-BCCF-9987C8948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" y="1685925"/>
            <a:ext cx="3790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191D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7191D"/>
                </a:solidFill>
                <a:latin typeface="Arial"/>
                <a:ea typeface="Arial"/>
                <a:cs typeface="Arial"/>
              </a:rPr>
              <a:t>CourseToken.sol + FujiV2AMM.sol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A71822B-21DE-4AF3-AA41-A6BC9693B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1666875"/>
            <a:ext cx="3810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191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1">
                <a:solidFill>
                  <a:srgbClr val="17191D"/>
                </a:solidFill>
                <a:latin typeface="Hiragino Sans GB"/>
                <a:ea typeface="Hiragino Sans GB"/>
                <a:cs typeface="Hiragino Sans GB"/>
              </a:rPr>
              <a:t>教学币与 AMM 合约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83EEF59-536A-4C60-9FC7-91D1BB370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381250"/>
            <a:ext cx="428625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4F6F8"/>
          </a:solidFill>
          <a:ln xmlns:a="http://schemas.openxmlformats.org/drawingml/2006/main" w="9525">
            <a:solidFill>
              <a:srgbClr val="D9DEE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EB20CFB-140D-4258-86FC-3138E74C4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381250"/>
            <a:ext cx="85725" cy="5905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719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2BC0769-ABD1-4B03-BEC9-4C6845160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" y="2543175"/>
            <a:ext cx="3790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191D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7191D"/>
                </a:solidFill>
                <a:latin typeface="Arial"/>
                <a:ea typeface="Arial"/>
                <a:cs typeface="Arial"/>
              </a:rPr>
              <a:t>test/FujiV2AMM.ts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F5A32A5-3EE9-46B6-9634-389820D38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524125"/>
            <a:ext cx="3810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191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1">
                <a:solidFill>
                  <a:srgbClr val="17191D"/>
                </a:solidFill>
                <a:latin typeface="Hiragino Sans GB"/>
                <a:ea typeface="Hiragino Sans GB"/>
                <a:cs typeface="Hiragino Sans GB"/>
              </a:rPr>
              <a:t>17 个合约行为场景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DEB9752-79B1-4E5C-9A06-A8469802C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238500"/>
            <a:ext cx="428625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4F6F8"/>
          </a:solidFill>
          <a:ln xmlns:a="http://schemas.openxmlformats.org/drawingml/2006/main" w="9525">
            <a:solidFill>
              <a:srgbClr val="D9DEE4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98D56B0-AF54-4D97-8101-22881B302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238500"/>
            <a:ext cx="85725" cy="5905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719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420438B-062A-4777-9AD0-5BB9ECD43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" y="3400425"/>
            <a:ext cx="3790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191D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7191D"/>
                </a:solidFill>
                <a:latin typeface="Arial"/>
                <a:ea typeface="Arial"/>
                <a:cs typeface="Arial"/>
              </a:rPr>
              <a:t>packages/hardhat/deploy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577E06B-3536-4DD8-8506-2903BCC9D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381375"/>
            <a:ext cx="3810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191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1">
                <a:solidFill>
                  <a:srgbClr val="17191D"/>
                </a:solidFill>
                <a:latin typeface="Hiragino Sans GB"/>
                <a:ea typeface="Hiragino Sans GB"/>
                <a:cs typeface="Hiragino Sans GB"/>
              </a:rPr>
              <a:t>部署脚本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7F19EE2-3BE7-4391-BC87-8ED81DD47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095750"/>
            <a:ext cx="428625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4F6F8"/>
          </a:solidFill>
          <a:ln xmlns:a="http://schemas.openxmlformats.org/drawingml/2006/main" w="9525">
            <a:solidFill>
              <a:srgbClr val="D9DEE4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F85986D-E841-4712-B39D-E879B0F18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095750"/>
            <a:ext cx="85725" cy="5905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76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1AFCF7B-C529-474B-B5BD-AD8F41C59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" y="4257675"/>
            <a:ext cx="3790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191D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7191D"/>
                </a:solidFill>
                <a:latin typeface="Arial"/>
                <a:ea typeface="Arial"/>
                <a:cs typeface="Arial"/>
              </a:rPr>
              <a:t>packages/nextjs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E2F258A-CF02-4600-9C16-AEE3ECDC4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238625"/>
            <a:ext cx="3810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191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1">
                <a:solidFill>
                  <a:srgbClr val="17191D"/>
                </a:solidFill>
                <a:latin typeface="Hiragino Sans GB"/>
                <a:ea typeface="Hiragino Sans GB"/>
                <a:cs typeface="Hiragino Sans GB"/>
              </a:rPr>
              <a:t>页面与钱包交互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8BCB871-9D1D-4223-BF00-991FAFB5C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953000"/>
            <a:ext cx="428625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4F6F8"/>
          </a:solidFill>
          <a:ln xmlns:a="http://schemas.openxmlformats.org/drawingml/2006/main" w="9525">
            <a:solidFill>
              <a:srgbClr val="D9DEE4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B6D3BB5-06B7-497E-8327-D76D4DF72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953000"/>
            <a:ext cx="85725" cy="5905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E8E5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8C01FCF-44DC-4130-B5C6-B532EE655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" y="5114925"/>
            <a:ext cx="3790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191D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7191D"/>
                </a:solidFill>
                <a:latin typeface="Arial"/>
                <a:ea typeface="Arial"/>
                <a:cs typeface="Arial"/>
              </a:rPr>
              <a:t>deployedContracts.ts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D8ED2A5-912B-4DE1-8B05-8BE494493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5095875"/>
            <a:ext cx="3810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191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1">
                <a:solidFill>
                  <a:srgbClr val="17191D"/>
                </a:solidFill>
                <a:latin typeface="Hiragino Sans GB"/>
                <a:ea typeface="Hiragino Sans GB"/>
                <a:cs typeface="Hiragino Sans GB"/>
              </a:rPr>
              <a:t>自动生成 ABI 与地址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01FD4EB-5CD1-43DF-956B-8058F3E8D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1524000"/>
            <a:ext cx="1314450" cy="4019550"/>
          </a:xfrm>
          <a:prstGeom xmlns:a="http://schemas.openxmlformats.org/drawingml/2006/main" prst="roundRect">
            <a:avLst>
              <a:gd name="adj" fmla="val 5797"/>
            </a:avLst>
          </a:prstGeom>
          <a:solidFill xmlns:a="http://schemas.openxmlformats.org/drawingml/2006/main">
            <a:srgbClr val="1719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5ADF9E0-D397-4DD1-9E8F-937799FD1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15525" y="2114550"/>
            <a:ext cx="914400" cy="2876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75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rPr>
              <a:t>AI</a:t>
            </a:r>
          </a:p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75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rPr>
              <a:t>沿着</a:t>
            </a:r>
          </a:p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75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rPr>
              <a:t>测试</a:t>
            </a:r>
          </a:p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75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rPr>
              <a:t>修改</a:t>
            </a:r>
          </a:p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75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rPr>
              <a:t>验证</a:t>
            </a:r>
          </a:p>
        </p:txBody>
      </p:sp>
    </p:spTree>
    <p:extLst>
      <p:ext uri="{BB962C8B-B14F-4D97-AF65-F5344CB8AC3E}">
        <p14:creationId xmlns:p14="http://schemas.microsoft.com/office/powerpoint/2010/main" val="1760412336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69699155-2BFE-41C9-A5F0-417556107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52425"/>
            <a:ext cx="10144125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191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550" b="1">
                <a:solidFill>
                  <a:srgbClr val="17191D"/>
                </a:solidFill>
                <a:latin typeface="Hiragino Sans GB"/>
                <a:ea typeface="Hiragino Sans GB"/>
                <a:cs typeface="Hiragino Sans GB"/>
              </a:rPr>
              <a:t>13 步工作流：每一次改动都有证据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E4F5418-2E3A-4CB3-AC3A-71831AB42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428625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E84142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1">
                <a:solidFill>
                  <a:srgbClr val="E84142"/>
                </a:solidFill>
                <a:latin typeface="Hiragino Sans GB"/>
                <a:ea typeface="Hiragino Sans GB"/>
                <a:cs typeface="Hiragino Sans GB"/>
              </a:rPr>
              <a:t>08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2AD0BBD-D550-441A-BC55-8024FE2AA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981075"/>
            <a:ext cx="110299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00F3F12-3690-49BF-9F9B-F62EA8793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29375"/>
            <a:ext cx="723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F667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75" b="1">
                <a:solidFill>
                  <a:srgbClr val="5F6670"/>
                </a:solidFill>
                <a:latin typeface="Hiragino Sans GB"/>
                <a:ea typeface="Hiragino Sans GB"/>
                <a:cs typeface="Hiragino Sans GB"/>
              </a:rPr>
              <a:t>学员流程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7F28E81-C0BE-47CB-9E0A-914580F5E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6429375"/>
            <a:ext cx="2952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F667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75" b="0">
                <a:solidFill>
                  <a:srgbClr val="5F6670"/>
                </a:solidFill>
                <a:latin typeface="Hiragino Sans GB"/>
                <a:ea typeface="Hiragino Sans GB"/>
                <a:cs typeface="Hiragino Sans GB"/>
              </a:rPr>
              <a:t>Fuji Testnet · 测试资产无价值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835D837-90C5-4FD8-B104-C2F352505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447800"/>
            <a:ext cx="23431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191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650" b="1">
                <a:solidFill>
                  <a:srgbClr val="17191D"/>
                </a:solidFill>
                <a:latin typeface="Hiragino Sans GB"/>
                <a:ea typeface="Hiragino Sans GB"/>
                <a:cs typeface="Hiragino Sans GB"/>
              </a:rPr>
              <a:t>A · 理解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1DFD21B-2D81-454C-A1CF-E64AE002D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914525"/>
            <a:ext cx="24003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57F7850-DF54-41D7-97A4-E5C53AC74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314575"/>
            <a:ext cx="6286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5F667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75" b="1">
                <a:solidFill>
                  <a:srgbClr val="5F6670"/>
                </a:solidFill>
                <a:latin typeface="Hiragino Sans GB"/>
                <a:ea typeface="Hiragino Sans GB"/>
                <a:cs typeface="Hiragino Sans GB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95069B2-6F63-4BAB-A5E0-FF6B483A6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2333625"/>
            <a:ext cx="1695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191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75" b="1">
                <a:solidFill>
                  <a:srgbClr val="17191D"/>
                </a:solidFill>
                <a:latin typeface="Hiragino Sans GB"/>
                <a:ea typeface="Hiragino Sans GB"/>
                <a:cs typeface="Hiragino Sans GB"/>
              </a:rPr>
              <a:t>Fork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A3300EE-5185-4626-92A3-6F4EB13C6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2781300"/>
            <a:ext cx="1524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845B8E3-9A6A-4039-B72E-790EAF0C7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152775"/>
            <a:ext cx="6286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5F667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75" b="1">
                <a:solidFill>
                  <a:srgbClr val="5F6670"/>
                </a:solidFill>
                <a:latin typeface="Hiragino Sans GB"/>
                <a:ea typeface="Hiragino Sans GB"/>
                <a:cs typeface="Hiragino Sans GB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D574DFE-2570-4B3F-BBFF-72AAD3258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3171825"/>
            <a:ext cx="1695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191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75" b="1">
                <a:solidFill>
                  <a:srgbClr val="17191D"/>
                </a:solidFill>
                <a:latin typeface="Hiragino Sans GB"/>
                <a:ea typeface="Hiragino Sans GB"/>
                <a:cs typeface="Hiragino Sans GB"/>
              </a:rPr>
              <a:t>读仓库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2339420-EDD2-4D17-84BC-1D3B228FF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3619500"/>
            <a:ext cx="1524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8C78E22-9C16-426F-8657-BCDC8A55E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990975"/>
            <a:ext cx="6286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5F667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75" b="1">
                <a:solidFill>
                  <a:srgbClr val="5F6670"/>
                </a:solidFill>
                <a:latin typeface="Hiragino Sans GB"/>
                <a:ea typeface="Hiragino Sans GB"/>
                <a:cs typeface="Hiragino Sans GB"/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AF213E4-EAFE-4EB3-BC06-DF6006D93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4010025"/>
            <a:ext cx="1695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191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75" b="1">
                <a:solidFill>
                  <a:srgbClr val="17191D"/>
                </a:solidFill>
                <a:latin typeface="Hiragino Sans GB"/>
                <a:ea typeface="Hiragino Sans GB"/>
                <a:cs typeface="Hiragino Sans GB"/>
              </a:rPr>
              <a:t>定需求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DF59F62-5546-4DE4-A809-F62D3F929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1447800"/>
            <a:ext cx="23431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191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650" b="1">
                <a:solidFill>
                  <a:srgbClr val="17191D"/>
                </a:solidFill>
                <a:latin typeface="Hiragino Sans GB"/>
                <a:ea typeface="Hiragino Sans GB"/>
                <a:cs typeface="Hiragino Sans GB"/>
              </a:rPr>
              <a:t>B · 修改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FA905EF-7496-44BA-8A80-F1BDA7767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1914525"/>
            <a:ext cx="24003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78F0546-C9D1-4B94-802D-0DF84FC36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2314575"/>
            <a:ext cx="6286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5F667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75" b="1">
                <a:solidFill>
                  <a:srgbClr val="5F6670"/>
                </a:solidFill>
                <a:latin typeface="Hiragino Sans GB"/>
                <a:ea typeface="Hiragino Sans GB"/>
                <a:cs typeface="Hiragino Sans GB"/>
              </a:rPr>
              <a:t>04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CB92E8C-03AA-4787-BF8A-214A3A93F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2333625"/>
            <a:ext cx="1695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191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75" b="1">
                <a:solidFill>
                  <a:srgbClr val="17191D"/>
                </a:solidFill>
                <a:latin typeface="Hiragino Sans GB"/>
                <a:ea typeface="Hiragino Sans GB"/>
                <a:cs typeface="Hiragino Sans GB"/>
              </a:rPr>
              <a:t>失败测试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0E14955-782D-493F-9784-B205F34DD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2781300"/>
            <a:ext cx="1524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F1B3C05-BBEB-44D2-A644-78A2006BE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3152775"/>
            <a:ext cx="6286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5F667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75" b="1">
                <a:solidFill>
                  <a:srgbClr val="5F6670"/>
                </a:solidFill>
                <a:latin typeface="Hiragino Sans GB"/>
                <a:ea typeface="Hiragino Sans GB"/>
                <a:cs typeface="Hiragino Sans GB"/>
              </a:rPr>
              <a:t>05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13BB8C5-81ED-4867-A8B5-204F59A19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3171825"/>
            <a:ext cx="1695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191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75" b="1">
                <a:solidFill>
                  <a:srgbClr val="17191D"/>
                </a:solidFill>
                <a:latin typeface="Hiragino Sans GB"/>
                <a:ea typeface="Hiragino Sans GB"/>
                <a:cs typeface="Hiragino Sans GB"/>
              </a:rPr>
              <a:t>改合约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6B00AC0-3B0D-49CB-972D-079F33103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3619500"/>
            <a:ext cx="1524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FBEEDDF-FA61-4406-8BDC-E871953D7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3990975"/>
            <a:ext cx="6286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5F667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75" b="1">
                <a:solidFill>
                  <a:srgbClr val="5F6670"/>
                </a:solidFill>
                <a:latin typeface="Hiragino Sans GB"/>
                <a:ea typeface="Hiragino Sans GB"/>
                <a:cs typeface="Hiragino Sans GB"/>
              </a:rPr>
              <a:t>06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A90F8BD-FCDF-4764-A33B-6AE87FE18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4010025"/>
            <a:ext cx="1695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191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75" b="1">
                <a:solidFill>
                  <a:srgbClr val="17191D"/>
                </a:solidFill>
                <a:latin typeface="Hiragino Sans GB"/>
                <a:ea typeface="Hiragino Sans GB"/>
                <a:cs typeface="Hiragino Sans GB"/>
              </a:rPr>
              <a:t>全量验证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F9D9917-BF0D-4D52-AC6A-32DFE101A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1447800"/>
            <a:ext cx="23431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E84142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650" b="1">
                <a:solidFill>
                  <a:srgbClr val="E84142"/>
                </a:solidFill>
                <a:latin typeface="Hiragino Sans GB"/>
                <a:ea typeface="Hiragino Sans GB"/>
                <a:cs typeface="Hiragino Sans GB"/>
              </a:rPr>
              <a:t>C · 上链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A9036A9-6F9C-4724-9584-35CA38A3E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1914525"/>
            <a:ext cx="24003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414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A3ABF66-E117-4ABA-ACA8-1AF9C3F7E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2314575"/>
            <a:ext cx="6286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E84142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75" b="1">
                <a:solidFill>
                  <a:srgbClr val="E84142"/>
                </a:solidFill>
                <a:latin typeface="Hiragino Sans GB"/>
                <a:ea typeface="Hiragino Sans GB"/>
                <a:cs typeface="Hiragino Sans GB"/>
              </a:rPr>
              <a:t>07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F17DB73-7133-4EAB-99E2-AAFE5CC75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2333625"/>
            <a:ext cx="1695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191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75" b="1">
                <a:solidFill>
                  <a:srgbClr val="17191D"/>
                </a:solidFill>
                <a:latin typeface="Hiragino Sans GB"/>
                <a:ea typeface="Hiragino Sans GB"/>
                <a:cs typeface="Hiragino Sans GB"/>
              </a:rPr>
              <a:t>发起部署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F514F06-56C4-42DA-815E-B43D14578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2781300"/>
            <a:ext cx="1524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DD9CB80-3A77-4B80-98E7-C54ACD4F3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3152775"/>
            <a:ext cx="6286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E84142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75" b="1">
                <a:solidFill>
                  <a:srgbClr val="E84142"/>
                </a:solidFill>
                <a:latin typeface="Hiragino Sans GB"/>
                <a:ea typeface="Hiragino Sans GB"/>
                <a:cs typeface="Hiragino Sans GB"/>
              </a:rPr>
              <a:t>08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D50AF57-B0DC-4E05-9993-A6F74000A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3171825"/>
            <a:ext cx="1695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191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75" b="1">
                <a:solidFill>
                  <a:srgbClr val="17191D"/>
                </a:solidFill>
                <a:latin typeface="Hiragino Sans GB"/>
                <a:ea typeface="Hiragino Sans GB"/>
                <a:cs typeface="Hiragino Sans GB"/>
              </a:rPr>
              <a:t>本机密码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CE6B6FB-BE7C-43D2-9AE3-C84C79531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3619500"/>
            <a:ext cx="1524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412CFF7-C26E-4786-94EF-0F7EFE88F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3990975"/>
            <a:ext cx="6286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E84142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75" b="1">
                <a:solidFill>
                  <a:srgbClr val="E84142"/>
                </a:solidFill>
                <a:latin typeface="Hiragino Sans GB"/>
                <a:ea typeface="Hiragino Sans GB"/>
                <a:cs typeface="Hiragino Sans GB"/>
              </a:rPr>
              <a:t>09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DA005967-C779-4254-B024-76C739DD6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4010025"/>
            <a:ext cx="1695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191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75" b="1">
                <a:solidFill>
                  <a:srgbClr val="17191D"/>
                </a:solidFill>
                <a:latin typeface="Hiragino Sans GB"/>
                <a:ea typeface="Hiragino Sans GB"/>
                <a:cs typeface="Hiragino Sans GB"/>
              </a:rPr>
              <a:t>地址同步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7ABD98D6-27A8-4104-8D02-982EE5F52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1447800"/>
            <a:ext cx="23431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191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650" b="1">
                <a:solidFill>
                  <a:srgbClr val="17191D"/>
                </a:solidFill>
                <a:latin typeface="Hiragino Sans GB"/>
                <a:ea typeface="Hiragino Sans GB"/>
                <a:cs typeface="Hiragino Sans GB"/>
              </a:rPr>
              <a:t>D · 发布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6489DCD1-3A4F-401D-9BE1-2F80FCCC5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1914525"/>
            <a:ext cx="24003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4DEFA879-FA3B-4DC1-9A2D-54AB899D2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2314575"/>
            <a:ext cx="6286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5F667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75" b="1">
                <a:solidFill>
                  <a:srgbClr val="5F6670"/>
                </a:solidFill>
                <a:latin typeface="Hiragino Sans GB"/>
                <a:ea typeface="Hiragino Sans GB"/>
                <a:cs typeface="Hiragino Sans GB"/>
              </a:rPr>
              <a:t>10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15AE265C-ABA6-4C31-8673-DF67240EE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2333625"/>
            <a:ext cx="1695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191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75" b="1">
                <a:solidFill>
                  <a:srgbClr val="17191D"/>
                </a:solidFill>
                <a:latin typeface="Hiragino Sans GB"/>
                <a:ea typeface="Hiragino Sans GB"/>
                <a:cs typeface="Hiragino Sans GB"/>
              </a:rPr>
              <a:t>查 diff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7DB27688-F71B-4968-94D9-037C7AA24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2781300"/>
            <a:ext cx="1524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441C62FB-D376-411D-B102-8D2D2AAC5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3152775"/>
            <a:ext cx="6286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5F667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75" b="1">
                <a:solidFill>
                  <a:srgbClr val="5F6670"/>
                </a:solidFill>
                <a:latin typeface="Hiragino Sans GB"/>
                <a:ea typeface="Hiragino Sans GB"/>
                <a:cs typeface="Hiragino Sans GB"/>
              </a:rPr>
              <a:t>11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CCD121DB-620F-4B7E-9A20-F9CC83170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3171825"/>
            <a:ext cx="1695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191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75" b="1">
                <a:solidFill>
                  <a:srgbClr val="17191D"/>
                </a:solidFill>
                <a:latin typeface="Hiragino Sans GB"/>
                <a:ea typeface="Hiragino Sans GB"/>
                <a:cs typeface="Hiragino Sans GB"/>
              </a:rPr>
              <a:t>授权推送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F9327139-49B0-429A-AB05-4C32B6A9C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3619500"/>
            <a:ext cx="1524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7460D3EE-11D4-4AB5-9B57-0E3D47063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3990975"/>
            <a:ext cx="6286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5F667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75" b="1">
                <a:solidFill>
                  <a:srgbClr val="5F6670"/>
                </a:solidFill>
                <a:latin typeface="Hiragino Sans GB"/>
                <a:ea typeface="Hiragino Sans GB"/>
                <a:cs typeface="Hiragino Sans GB"/>
              </a:rPr>
              <a:t>12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966FCAD4-FA8A-40E7-843A-8FCC35847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4010025"/>
            <a:ext cx="1695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191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75" b="1">
                <a:solidFill>
                  <a:srgbClr val="17191D"/>
                </a:solidFill>
                <a:latin typeface="Hiragino Sans GB"/>
                <a:ea typeface="Hiragino Sans GB"/>
                <a:cs typeface="Hiragino Sans GB"/>
              </a:rPr>
              <a:t>CI / Vercel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4EE3D0F7-3C3C-4FAE-8073-5003310D4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4457700"/>
            <a:ext cx="1524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B5DE9D37-82A7-4EE9-B64F-4D3EE2852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4829175"/>
            <a:ext cx="6286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5F667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75" b="1">
                <a:solidFill>
                  <a:srgbClr val="5F6670"/>
                </a:solidFill>
                <a:latin typeface="Hiragino Sans GB"/>
                <a:ea typeface="Hiragino Sans GB"/>
                <a:cs typeface="Hiragino Sans GB"/>
              </a:rPr>
              <a:t>13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0CE929CB-02A0-4D91-8F44-31CABD33D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4848225"/>
            <a:ext cx="1695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191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75" b="1">
                <a:solidFill>
                  <a:srgbClr val="17191D"/>
                </a:solidFill>
                <a:latin typeface="Hiragino Sans GB"/>
                <a:ea typeface="Hiragino Sans GB"/>
                <a:cs typeface="Hiragino Sans GB"/>
              </a:rPr>
              <a:t>全链路验收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7009C76D-5639-4FD9-A414-86CBEBBD7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857875"/>
            <a:ext cx="11029950" cy="371475"/>
          </a:xfrm>
          <a:prstGeom xmlns:a="http://schemas.openxmlformats.org/drawingml/2006/main" prst="roundRect">
            <a:avLst>
              <a:gd name="adj" fmla="val 20513"/>
            </a:avLst>
          </a:prstGeom>
          <a:solidFill xmlns:a="http://schemas.openxmlformats.org/drawingml/2006/main">
            <a:srgbClr val="F4F6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51BE3816-9524-439A-9E53-D9FDCB19B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934075"/>
            <a:ext cx="10668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191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75" b="1">
                <a:solidFill>
                  <a:srgbClr val="17191D"/>
                </a:solidFill>
                <a:latin typeface="Hiragino Sans GB"/>
                <a:ea typeface="Hiragino Sans GB"/>
                <a:cs typeface="Hiragino Sans GB"/>
              </a:rPr>
              <a:t>证据链：失败测试记录 · 通过的质量门禁 · Fuji 交易哈希 · Explorer 地址 · 在线 URL</a:t>
            </a:r>
          </a:p>
        </p:txBody>
      </p:sp>
    </p:spTree>
    <p:extLst>
      <p:ext uri="{BB962C8B-B14F-4D97-AF65-F5344CB8AC3E}">
        <p14:creationId xmlns:p14="http://schemas.microsoft.com/office/powerpoint/2010/main" val="1361455681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85A5A58-411A-419D-A16D-578442159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52425"/>
            <a:ext cx="10144125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191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550" b="1">
                <a:solidFill>
                  <a:srgbClr val="17191D"/>
                </a:solidFill>
                <a:latin typeface="Hiragino Sans GB"/>
                <a:ea typeface="Hiragino Sans GB"/>
                <a:cs typeface="Hiragino Sans GB"/>
              </a:rPr>
              <a:t>开始：拥有自己的仓库，再让 AI 建立上下文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572E7CC-56BB-4BA0-98AE-7B5DD06AC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428625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E84142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1">
                <a:solidFill>
                  <a:srgbClr val="E84142"/>
                </a:solidFill>
                <a:latin typeface="Hiragino Sans GB"/>
                <a:ea typeface="Hiragino Sans GB"/>
                <a:cs typeface="Hiragino Sans GB"/>
              </a:rPr>
              <a:t>09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1F82DB9-6035-4B8B-9DAD-94D6152BE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981075"/>
            <a:ext cx="110299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DB873B6-18C8-46FD-9A70-7C6911820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29375"/>
            <a:ext cx="723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F667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75" b="1">
                <a:solidFill>
                  <a:srgbClr val="5F6670"/>
                </a:solidFill>
                <a:latin typeface="Hiragino Sans GB"/>
                <a:ea typeface="Hiragino Sans GB"/>
                <a:cs typeface="Hiragino Sans GB"/>
              </a:rPr>
              <a:t>学员流程 · 理解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186ACAB-DF74-45E7-A837-24A028517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6429375"/>
            <a:ext cx="2952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F667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75" b="0">
                <a:solidFill>
                  <a:srgbClr val="5F6670"/>
                </a:solidFill>
                <a:latin typeface="Hiragino Sans GB"/>
                <a:ea typeface="Hiragino Sans GB"/>
                <a:cs typeface="Hiragino Sans GB"/>
              </a:rPr>
              <a:t>Fuji Testnet · 测试资产无价值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723BD74-A57F-4500-BC55-144C5A401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238250"/>
            <a:ext cx="914400" cy="2352675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E8414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5D1CEEC-0AB3-4D40-A523-622C52079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381125"/>
            <a:ext cx="666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55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6315BD5-48B9-464C-A870-3A6FA6F8B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1285875"/>
            <a:ext cx="40576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7191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75" b="1">
                <a:solidFill>
                  <a:srgbClr val="17191D"/>
                </a:solidFill>
                <a:latin typeface="Hiragino Sans GB"/>
                <a:ea typeface="Hiragino Sans GB"/>
                <a:cs typeface="Hiragino Sans GB"/>
              </a:rPr>
              <a:t>Fork 教学模板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E66FA2A-E931-4A13-BC41-E21467CB1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1781175"/>
            <a:ext cx="6286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E84142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25" b="1">
                <a:solidFill>
                  <a:srgbClr val="E84142"/>
                </a:solidFill>
                <a:latin typeface="Hiragino Sans GB"/>
                <a:ea typeface="Hiragino Sans GB"/>
                <a:cs typeface="Hiragino Sans GB"/>
              </a:rPr>
              <a:t>操作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CFA300E-8EE9-4989-A36F-CC20217DA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1752600"/>
            <a:ext cx="3429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191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0">
                <a:solidFill>
                  <a:srgbClr val="17191D"/>
                </a:solidFill>
                <a:latin typeface="Hiragino Sans GB"/>
                <a:ea typeface="Hiragino Sans GB"/>
                <a:cs typeface="Hiragino Sans GB"/>
              </a:rPr>
              <a:t>在 GitHub 点击 Fork，创建到自己的账号；再让 Codex 打开仓库。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93714B9-7565-4880-BF27-C03EE7442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2495550"/>
            <a:ext cx="6286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E8E5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25" b="1">
                <a:solidFill>
                  <a:srgbClr val="1E8E5A"/>
                </a:solidFill>
                <a:latin typeface="Hiragino Sans GB"/>
                <a:ea typeface="Hiragino Sans GB"/>
                <a:cs typeface="Hiragino Sans GB"/>
              </a:rPr>
              <a:t>检查点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DB0131B-DE2A-4353-B67E-1928FF37B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2466975"/>
            <a:ext cx="342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191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0">
                <a:solidFill>
                  <a:srgbClr val="17191D"/>
                </a:solidFill>
                <a:latin typeface="Hiragino Sans GB"/>
                <a:ea typeface="Hiragino Sans GB"/>
                <a:cs typeface="Hiragino Sans GB"/>
              </a:rPr>
              <a:t>浏览器地址显示自己的用户名；默认分支与上游一致。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1C85BFF-5D03-4228-B7A9-6EAE921FA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285875"/>
            <a:ext cx="5429250" cy="2257425"/>
          </a:xfrm>
          <a:prstGeom xmlns:a="http://schemas.openxmlformats.org/drawingml/2006/main" prst="roundRect">
            <a:avLst>
              <a:gd name="adj" fmla="val 3376"/>
            </a:avLst>
          </a:prstGeom>
          <a:solidFill xmlns:a="http://schemas.openxmlformats.org/drawingml/2006/main">
            <a:srgbClr val="2528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0B03EB3-3BD2-4F0C-939F-02103BE5C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1409700"/>
            <a:ext cx="10953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9A9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1">
                <a:solidFill>
                  <a:srgbClr val="FF9A9B"/>
                </a:solidFill>
                <a:latin typeface="Hiragino Sans GB"/>
                <a:ea typeface="Hiragino Sans GB"/>
                <a:cs typeface="Hiragino Sans GB"/>
              </a:rPr>
              <a:t>复制给 AI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0EA85D9-55D2-4E4C-A50C-D03BC67A6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1685925"/>
            <a:ext cx="5086350" cy="1733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75" b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rPr>
              <a:t>请只读检查当前仓库是否来自课程模板，告诉我默认分支、项目结构和未提交文件。不要修改代码。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212D3E6-60EF-4D33-BC9E-AA6E6437E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733800"/>
            <a:ext cx="914400" cy="2352675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1719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15D54D3-0702-4167-9FB1-B01683FDD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876675"/>
            <a:ext cx="666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55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rPr>
              <a:t>02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C46DBE6-BED1-48AC-AF16-946F38C53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3781425"/>
            <a:ext cx="40576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7191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75" b="1">
                <a:solidFill>
                  <a:srgbClr val="17191D"/>
                </a:solidFill>
                <a:latin typeface="Hiragino Sans GB"/>
                <a:ea typeface="Hiragino Sans GB"/>
                <a:cs typeface="Hiragino Sans GB"/>
              </a:rPr>
              <a:t>读取规则与核心文件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11E87C9-0E0D-47CD-9B58-129FA7B20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4276725"/>
            <a:ext cx="6286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E84142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25" b="1">
                <a:solidFill>
                  <a:srgbClr val="E84142"/>
                </a:solidFill>
                <a:latin typeface="Hiragino Sans GB"/>
                <a:ea typeface="Hiragino Sans GB"/>
                <a:cs typeface="Hiragino Sans GB"/>
              </a:rPr>
              <a:t>操作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3A5B025-8A0F-4E86-822B-3B1633E07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4248150"/>
            <a:ext cx="3429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191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0">
                <a:solidFill>
                  <a:srgbClr val="17191D"/>
                </a:solidFill>
                <a:latin typeface="Hiragino Sans GB"/>
                <a:ea typeface="Hiragino Sans GB"/>
                <a:cs typeface="Hiragino Sans GB"/>
              </a:rPr>
              <a:t>让 AI 先读 AGENTS.md、CourseToken.sol、FujiV2AMM.sol、测试、部署脚本和前端配置。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2A3A8A1-E144-4E83-89F4-D8E4A6CE0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4991100"/>
            <a:ext cx="6286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E8E5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25" b="1">
                <a:solidFill>
                  <a:srgbClr val="1E8E5A"/>
                </a:solidFill>
                <a:latin typeface="Hiragino Sans GB"/>
                <a:ea typeface="Hiragino Sans GB"/>
                <a:cs typeface="Hiragino Sans GB"/>
              </a:rPr>
              <a:t>检查点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E70FD55-F709-4CD4-8C32-C5AA0E03A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4962525"/>
            <a:ext cx="342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191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0">
                <a:solidFill>
                  <a:srgbClr val="17191D"/>
                </a:solidFill>
                <a:latin typeface="Hiragino Sans GB"/>
                <a:ea typeface="Hiragino Sans GB"/>
                <a:cs typeface="Hiragino Sans GB"/>
              </a:rPr>
              <a:t>AI 能说清改哪份合约、用哪条测试命令、部署后地址写到哪里。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143D211-1921-4384-ADE6-6DA62C911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781425"/>
            <a:ext cx="5429250" cy="2257425"/>
          </a:xfrm>
          <a:prstGeom xmlns:a="http://schemas.openxmlformats.org/drawingml/2006/main" prst="roundRect">
            <a:avLst>
              <a:gd name="adj" fmla="val 3376"/>
            </a:avLst>
          </a:prstGeom>
          <a:solidFill xmlns:a="http://schemas.openxmlformats.org/drawingml/2006/main">
            <a:srgbClr val="2528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257A90F-7E17-4CB0-A753-49B474CAF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905250"/>
            <a:ext cx="10953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9A9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1">
                <a:solidFill>
                  <a:srgbClr val="FF9A9B"/>
                </a:solidFill>
                <a:latin typeface="Hiragino Sans GB"/>
                <a:ea typeface="Hiragino Sans GB"/>
                <a:cs typeface="Hiragino Sans GB"/>
              </a:rPr>
              <a:t>复制给 AI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D585007-0FE9-4E3E-AC98-2B047AFBB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4181475"/>
            <a:ext cx="5086350" cy="1733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75" b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rPr>
              <a:t>先不要改代码。完整阅读 AGENTS.md、两份合约、FujiV2AMM.ts、部署脚本和前端配置，画出从合约到页面的数据路径，并列出安全限制。</a:t>
            </a:r>
          </a:p>
        </p:txBody>
      </p:sp>
    </p:spTree>
    <p:extLst>
      <p:ext uri="{BB962C8B-B14F-4D97-AF65-F5344CB8AC3E}">
        <p14:creationId xmlns:p14="http://schemas.microsoft.com/office/powerpoint/2010/main" val="1137581299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98423DA-8A6F-449D-9084-E145D0B6A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52425"/>
            <a:ext cx="10144125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191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550" b="1">
                <a:solidFill>
                  <a:srgbClr val="17191D"/>
                </a:solidFill>
                <a:latin typeface="Hiragino Sans GB"/>
                <a:ea typeface="Hiragino Sans GB"/>
                <a:cs typeface="Hiragino Sans GB"/>
              </a:rPr>
              <a:t>需求先变成测试，AI 才有明确终点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93AD27C-BE70-47B6-8789-CCD171D4D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428625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E84142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1">
                <a:solidFill>
                  <a:srgbClr val="E84142"/>
                </a:solidFill>
                <a:latin typeface="Hiragino Sans GB"/>
                <a:ea typeface="Hiragino Sans GB"/>
                <a:cs typeface="Hiragino Sans GB"/>
              </a:rPr>
              <a:t>10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242CE6F-0444-4713-BDCE-03EC1164D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981075"/>
            <a:ext cx="110299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13B34C4-8B32-405F-BB38-C3273332D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29375"/>
            <a:ext cx="723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F667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75" b="1">
                <a:solidFill>
                  <a:srgbClr val="5F6670"/>
                </a:solidFill>
                <a:latin typeface="Hiragino Sans GB"/>
                <a:ea typeface="Hiragino Sans GB"/>
                <a:cs typeface="Hiragino Sans GB"/>
              </a:rPr>
              <a:t>学员流程 · 理解与修改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F2CC6E7-2330-4E1C-A6D9-0EF6EFFEB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6429375"/>
            <a:ext cx="2952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F667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75" b="0">
                <a:solidFill>
                  <a:srgbClr val="5F6670"/>
                </a:solidFill>
                <a:latin typeface="Hiragino Sans GB"/>
                <a:ea typeface="Hiragino Sans GB"/>
                <a:cs typeface="Hiragino Sans GB"/>
              </a:rPr>
              <a:t>Fuji Testnet · 测试资产无价值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6DDBA8E-10D0-4D0C-AB5B-97DFEF834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238250"/>
            <a:ext cx="914400" cy="2352675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E8414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046EEEA-599A-4757-95BC-0EE86A47D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381125"/>
            <a:ext cx="666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55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rPr>
              <a:t>03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8F31B60-3C51-47AE-BF06-24CBE9156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1285875"/>
            <a:ext cx="40576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7191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75" b="1">
                <a:solidFill>
                  <a:srgbClr val="17191D"/>
                </a:solidFill>
                <a:latin typeface="Hiragino Sans GB"/>
                <a:ea typeface="Hiragino Sans GB"/>
                <a:cs typeface="Hiragino Sans GB"/>
              </a:rPr>
              <a:t>选择一个合约需求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EB71602-05E1-4526-AF5B-E2B1BEB36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1781175"/>
            <a:ext cx="6286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E84142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25" b="1">
                <a:solidFill>
                  <a:srgbClr val="E84142"/>
                </a:solidFill>
                <a:latin typeface="Hiragino Sans GB"/>
                <a:ea typeface="Hiragino Sans GB"/>
                <a:cs typeface="Hiragino Sans GB"/>
              </a:rPr>
              <a:t>操作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4736F56-485F-4D8A-A4D5-84D219F30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1752600"/>
            <a:ext cx="3429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191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0">
                <a:solidFill>
                  <a:srgbClr val="17191D"/>
                </a:solidFill>
                <a:latin typeface="Hiragino Sans GB"/>
                <a:ea typeface="Hiragino Sans GB"/>
                <a:cs typeface="Hiragino Sans GB"/>
              </a:rPr>
              <a:t>从手续费、Claim 规则或单笔限额中选一个最小合约改动。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DBD8A69-A61F-4A86-B86E-7DB25096F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2495550"/>
            <a:ext cx="6286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E8E5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25" b="1">
                <a:solidFill>
                  <a:srgbClr val="1E8E5A"/>
                </a:solidFill>
                <a:latin typeface="Hiragino Sans GB"/>
                <a:ea typeface="Hiragino Sans GB"/>
                <a:cs typeface="Hiragino Sans GB"/>
              </a:rPr>
              <a:t>检查点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A2A0A7E-0A76-4092-9618-DE4FEEDE2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2466975"/>
            <a:ext cx="342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191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0">
                <a:solidFill>
                  <a:srgbClr val="17191D"/>
                </a:solidFill>
                <a:latin typeface="Hiragino Sans GB"/>
                <a:ea typeface="Hiragino Sans GB"/>
                <a:cs typeface="Hiragino Sans GB"/>
              </a:rPr>
              <a:t>需求写成输入、预期结果、错误条件；不顺手重构无关代码。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F9D8FF9-4C2B-436B-9310-8E502F294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285875"/>
            <a:ext cx="5429250" cy="2257425"/>
          </a:xfrm>
          <a:prstGeom xmlns:a="http://schemas.openxmlformats.org/drawingml/2006/main" prst="roundRect">
            <a:avLst>
              <a:gd name="adj" fmla="val 3376"/>
            </a:avLst>
          </a:prstGeom>
          <a:solidFill xmlns:a="http://schemas.openxmlformats.org/drawingml/2006/main">
            <a:srgbClr val="2528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D28D114-909A-4032-B6FF-EF527B2FC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1409700"/>
            <a:ext cx="10953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9A9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1">
                <a:solidFill>
                  <a:srgbClr val="FF9A9B"/>
                </a:solidFill>
                <a:latin typeface="Hiragino Sans GB"/>
                <a:ea typeface="Hiragino Sans GB"/>
                <a:cs typeface="Hiragino Sans GB"/>
              </a:rPr>
              <a:t>复制给 AI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BBB3B43-7955-4B4F-8988-D2FC62C2A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1685925"/>
            <a:ext cx="5086350" cy="1733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75" b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rPr>
              <a:t>我要把【需求】改成【具体数值或规则】。请先定位影响的函数与测试，写出验收标准和最小修改范围，不要动代码。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96B55CE-B088-4778-B22D-565A50296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733800"/>
            <a:ext cx="914400" cy="2352675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1719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3BAD5BE-2BF0-44E6-85A0-23D911948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876675"/>
            <a:ext cx="666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55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rPr>
              <a:t>04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5476908-1205-418D-BAAC-9FB343192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3781425"/>
            <a:ext cx="40576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7191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75" b="1">
                <a:solidFill>
                  <a:srgbClr val="17191D"/>
                </a:solidFill>
                <a:latin typeface="Hiragino Sans GB"/>
                <a:ea typeface="Hiragino Sans GB"/>
                <a:cs typeface="Hiragino Sans GB"/>
              </a:rPr>
              <a:t>先补一个会失败的测试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2F4E3D8-CE13-4A83-A053-F706A7576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4276725"/>
            <a:ext cx="6286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E84142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25" b="1">
                <a:solidFill>
                  <a:srgbClr val="E84142"/>
                </a:solidFill>
                <a:latin typeface="Hiragino Sans GB"/>
                <a:ea typeface="Hiragino Sans GB"/>
                <a:cs typeface="Hiragino Sans GB"/>
              </a:rPr>
              <a:t>操作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585DEEB-9851-425C-A7B0-616812E0E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4248150"/>
            <a:ext cx="3429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191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0">
                <a:solidFill>
                  <a:srgbClr val="17191D"/>
                </a:solidFill>
                <a:latin typeface="Hiragino Sans GB"/>
                <a:ea typeface="Hiragino Sans GB"/>
                <a:cs typeface="Hiragino Sans GB"/>
              </a:rPr>
              <a:t>AI 只添加测试并运行目标测试，保留失败输出作为修改前证据。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FE8FFF1-CDC7-44C7-A942-D865E5269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4991100"/>
            <a:ext cx="6286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E8E5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25" b="1">
                <a:solidFill>
                  <a:srgbClr val="1E8E5A"/>
                </a:solidFill>
                <a:latin typeface="Hiragino Sans GB"/>
                <a:ea typeface="Hiragino Sans GB"/>
                <a:cs typeface="Hiragino Sans GB"/>
              </a:rPr>
              <a:t>检查点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1CA9FC6-37D3-41CC-88A2-A131C1221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4962525"/>
            <a:ext cx="342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191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0">
                <a:solidFill>
                  <a:srgbClr val="17191D"/>
                </a:solidFill>
                <a:latin typeface="Hiragino Sans GB"/>
                <a:ea typeface="Hiragino Sans GB"/>
                <a:cs typeface="Hiragino Sans GB"/>
              </a:rPr>
              <a:t>测试因新需求未实现而失败，不是语法、依赖或环境错误。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D6EBA48-BBCE-4334-ABF5-42717755C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781425"/>
            <a:ext cx="5429250" cy="2257425"/>
          </a:xfrm>
          <a:prstGeom xmlns:a="http://schemas.openxmlformats.org/drawingml/2006/main" prst="roundRect">
            <a:avLst>
              <a:gd name="adj" fmla="val 3376"/>
            </a:avLst>
          </a:prstGeom>
          <a:solidFill xmlns:a="http://schemas.openxmlformats.org/drawingml/2006/main">
            <a:srgbClr val="2528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BFFEBC5-8EDC-4CD4-9923-244EA45C8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905250"/>
            <a:ext cx="10953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9A9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1">
                <a:solidFill>
                  <a:srgbClr val="FF9A9B"/>
                </a:solidFill>
                <a:latin typeface="Hiragino Sans GB"/>
                <a:ea typeface="Hiragino Sans GB"/>
                <a:cs typeface="Hiragino Sans GB"/>
              </a:rPr>
              <a:t>复制给 AI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AC29984-CCEF-421E-A36A-4ED47A92B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4181475"/>
            <a:ext cx="5086350" cy="1733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75" b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rPr>
              <a:t>只为上述需求添加一个最小测试。先不要改合约。运行目标测试，确认它因预期行为尚未实现而失败，并概括失败证据。</a:t>
            </a:r>
          </a:p>
        </p:txBody>
      </p:sp>
    </p:spTree>
    <p:extLst>
      <p:ext uri="{BB962C8B-B14F-4D97-AF65-F5344CB8AC3E}">
        <p14:creationId xmlns:p14="http://schemas.microsoft.com/office/powerpoint/2010/main" val="1018717276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EB20D19-BCF8-4804-8ED7-B4C650809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52425"/>
            <a:ext cx="10144125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191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550" b="1">
                <a:solidFill>
                  <a:srgbClr val="17191D"/>
                </a:solidFill>
                <a:latin typeface="Hiragino Sans GB"/>
                <a:ea typeface="Hiragino Sans GB"/>
                <a:cs typeface="Hiragino Sans GB"/>
              </a:rPr>
              <a:t>第 5 步：只修改合约需要改变的部分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8A72E12-1376-4AE1-ABB3-C5282D264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428625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E84142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1">
                <a:solidFill>
                  <a:srgbClr val="E84142"/>
                </a:solidFill>
                <a:latin typeface="Hiragino Sans GB"/>
                <a:ea typeface="Hiragino Sans GB"/>
                <a:cs typeface="Hiragino Sans GB"/>
              </a:rPr>
              <a:t>11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2A54083-9112-4697-82EC-93510FC64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981075"/>
            <a:ext cx="110299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0639EBB-FEBA-41AF-954D-EA347845A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29375"/>
            <a:ext cx="723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F667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75" b="1">
                <a:solidFill>
                  <a:srgbClr val="5F6670"/>
                </a:solidFill>
                <a:latin typeface="Hiragino Sans GB"/>
                <a:ea typeface="Hiragino Sans GB"/>
                <a:cs typeface="Hiragino Sans GB"/>
              </a:rPr>
              <a:t>学员流程 · 修改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AEA4C0C-FEE1-4928-920C-7C73C5A30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6429375"/>
            <a:ext cx="2952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F667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75" b="0">
                <a:solidFill>
                  <a:srgbClr val="5F6670"/>
                </a:solidFill>
                <a:latin typeface="Hiragino Sans GB"/>
                <a:ea typeface="Hiragino Sans GB"/>
                <a:cs typeface="Hiragino Sans GB"/>
              </a:rPr>
              <a:t>Fuji Testnet · 测试资产无价值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D034C63-4256-4ECB-B6AB-5A212A55A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343025"/>
            <a:ext cx="1162050" cy="4324350"/>
          </a:xfrm>
          <a:prstGeom xmlns:a="http://schemas.openxmlformats.org/drawingml/2006/main" prst="roundRect">
            <a:avLst>
              <a:gd name="adj" fmla="val 6557"/>
            </a:avLst>
          </a:prstGeom>
          <a:solidFill xmlns:a="http://schemas.openxmlformats.org/drawingml/2006/main">
            <a:srgbClr val="E8414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8184F9A-1706-4D48-A8C7-C6671CF16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590675"/>
            <a:ext cx="7810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30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30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rPr>
              <a:t>05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F1B9DD8-355D-43F6-8DC0-A9F0170AB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1381125"/>
            <a:ext cx="4953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191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250" b="1">
                <a:solidFill>
                  <a:srgbClr val="17191D"/>
                </a:solidFill>
                <a:latin typeface="Hiragino Sans GB"/>
                <a:ea typeface="Hiragino Sans GB"/>
                <a:cs typeface="Hiragino Sans GB"/>
              </a:rPr>
              <a:t>AI 修改合约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F1E0BBD-67EC-48AD-9ECC-A0F3DBDF1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2095500"/>
            <a:ext cx="742950" cy="304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E8414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9946838-507E-4D85-A964-F80ABD885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2143125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rPr>
              <a:t>操作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66A5ABF-74ED-47D4-8CC7-61963925A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2085975"/>
            <a:ext cx="823912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191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0">
                <a:solidFill>
                  <a:srgbClr val="17191D"/>
                </a:solidFill>
                <a:latin typeface="Hiragino Sans GB"/>
                <a:ea typeface="Hiragino Sans GB"/>
                <a:cs typeface="Hiragino Sans GB"/>
              </a:rPr>
              <a:t>让 AI 根据失败测试做最小实现；保留 x × y = k、权限、余额检查和事件。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610D2CD-8AD0-4D7F-A2BF-271787D7F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3000375"/>
            <a:ext cx="876300" cy="304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1E8E5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9726D53-AB5E-49A1-B9D4-629407B1B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3048000"/>
            <a:ext cx="685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rPr>
              <a:t>检查点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9758514-AD76-44F9-910D-7A4F5A8AD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33725" y="2990850"/>
            <a:ext cx="81057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191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0">
                <a:solidFill>
                  <a:srgbClr val="17191D"/>
                </a:solidFill>
                <a:latin typeface="Hiragino Sans GB"/>
                <a:ea typeface="Hiragino Sans GB"/>
                <a:cs typeface="Hiragino Sans GB"/>
              </a:rPr>
              <a:t>刚才的目标测试通过；旧测试没有回归；diff 能用几句话解释。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A4C2B8F-4C38-4382-B4E5-E2726A032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3810000"/>
            <a:ext cx="9163050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F4F6F8"/>
          </a:solidFill>
          <a:ln xmlns:a="http://schemas.openxmlformats.org/drawingml/2006/main" w="9525">
            <a:solidFill>
              <a:srgbClr val="D9DEE4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FA1EDF7-2BAD-4746-9114-F0AD1CF57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3962400"/>
            <a:ext cx="87820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F667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75" b="0">
                <a:solidFill>
                  <a:srgbClr val="5F6670"/>
                </a:solidFill>
                <a:latin typeface="Hiragino Sans GB"/>
                <a:ea typeface="Hiragino Sans GB"/>
                <a:cs typeface="Hiragino Sans GB"/>
              </a:rPr>
              <a:t>审查问题：这个改动会不会绕过余额检查、扩大权限、破坏不变量，或让前端 ABI 失配？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3101E45-451D-4BB0-8C0C-A4356C3D8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4667250"/>
            <a:ext cx="9163050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2528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8600060-B0DB-4EB7-8C5D-5798AB0D2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4791075"/>
            <a:ext cx="10953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9A9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1">
                <a:solidFill>
                  <a:srgbClr val="FF9A9B"/>
                </a:solidFill>
                <a:latin typeface="Hiragino Sans GB"/>
                <a:ea typeface="Hiragino Sans GB"/>
                <a:cs typeface="Hiragino Sans GB"/>
              </a:rPr>
              <a:t>复制给 AI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8FFD122-675B-4A6C-9383-7BCB335A7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5067300"/>
            <a:ext cx="8820150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75" b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rPr>
              <a:t>现在根据失败测试实现需求。只改必要的合约代码；不要改测试来迎合实现。完成后先运行目标测试，再解释每一处 diff 为什么必要。</a:t>
            </a:r>
          </a:p>
        </p:txBody>
      </p:sp>
    </p:spTree>
    <p:extLst>
      <p:ext uri="{BB962C8B-B14F-4D97-AF65-F5344CB8AC3E}">
        <p14:creationId xmlns:p14="http://schemas.microsoft.com/office/powerpoint/2010/main" val="477233093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D735386-E2D5-4D1F-9DD3-0EBE94335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52425"/>
            <a:ext cx="10144125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191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550" b="1">
                <a:solidFill>
                  <a:srgbClr val="17191D"/>
                </a:solidFill>
                <a:latin typeface="Hiragino Sans GB"/>
                <a:ea typeface="Hiragino Sans GB"/>
                <a:cs typeface="Hiragino Sans GB"/>
              </a:rPr>
              <a:t>质量门禁：同时检查合约与网页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A4F0AB8-2AC4-419E-B182-5155822DC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428625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E84142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1">
                <a:solidFill>
                  <a:srgbClr val="E84142"/>
                </a:solidFill>
                <a:latin typeface="Hiragino Sans GB"/>
                <a:ea typeface="Hiragino Sans GB"/>
                <a:cs typeface="Hiragino Sans GB"/>
              </a:rPr>
              <a:t>12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CE157BC-601C-4B34-90BF-9C4EEB86D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981075"/>
            <a:ext cx="110299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B2BE389-C978-44F4-BC00-239AC0ECD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29375"/>
            <a:ext cx="723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F667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75" b="1">
                <a:solidFill>
                  <a:srgbClr val="5F6670"/>
                </a:solidFill>
                <a:latin typeface="Hiragino Sans GB"/>
                <a:ea typeface="Hiragino Sans GB"/>
                <a:cs typeface="Hiragino Sans GB"/>
              </a:rPr>
              <a:t>学员流程 · 修改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40AE093-B6E3-44E4-8675-14CB4D741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6429375"/>
            <a:ext cx="2952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F667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75" b="0">
                <a:solidFill>
                  <a:srgbClr val="5F6670"/>
                </a:solidFill>
                <a:latin typeface="Hiragino Sans GB"/>
                <a:ea typeface="Hiragino Sans GB"/>
                <a:cs typeface="Hiragino Sans GB"/>
              </a:rPr>
              <a:t>Fuji Testnet · 测试资产无价值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11433F8-1E81-4BDB-BD2B-3A08CD285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343025"/>
            <a:ext cx="1162050" cy="4324350"/>
          </a:xfrm>
          <a:prstGeom xmlns:a="http://schemas.openxmlformats.org/drawingml/2006/main" prst="roundRect">
            <a:avLst>
              <a:gd name="adj" fmla="val 6557"/>
            </a:avLst>
          </a:prstGeom>
          <a:solidFill xmlns:a="http://schemas.openxmlformats.org/drawingml/2006/main">
            <a:srgbClr val="1719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0220AAA-A940-48B5-A496-7D602E57F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590675"/>
            <a:ext cx="7810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30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30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rPr>
              <a:t>06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D3098F5-A37B-4980-932B-38A51E5A9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1381125"/>
            <a:ext cx="4953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191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250" b="1">
                <a:solidFill>
                  <a:srgbClr val="17191D"/>
                </a:solidFill>
                <a:latin typeface="Hiragino Sans GB"/>
                <a:ea typeface="Hiragino Sans GB"/>
                <a:cs typeface="Hiragino Sans GB"/>
              </a:rPr>
              <a:t>运行完整验证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79AF17B-26C6-47ED-8020-795F1B289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2095500"/>
            <a:ext cx="742950" cy="304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E8414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CE851C5-491F-4108-9E9E-C40D63741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2143125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rPr>
              <a:t>操作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0106458-42C7-4326-B920-E46E74113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2085975"/>
            <a:ext cx="823912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191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0">
                <a:solidFill>
                  <a:srgbClr val="17191D"/>
                </a:solidFill>
                <a:latin typeface="Hiragino Sans GB"/>
                <a:ea typeface="Hiragino Sans GB"/>
                <a:cs typeface="Hiragino Sans GB"/>
              </a:rPr>
              <a:t>依次运行 yarn hardhat:compile、yarn hardhat:test、yarn ci:contracts、yarn next:check-types 和 yarn next:build。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C60A572-D163-481E-9D31-6765E00F0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3000375"/>
            <a:ext cx="876300" cy="304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1E8E5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8CEA824-08A1-4EB5-BF7A-EA22CA49D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3048000"/>
            <a:ext cx="685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rPr>
              <a:t>检查点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6FA4C26-5B12-4F77-867F-6B9858352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33725" y="2990850"/>
            <a:ext cx="81057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191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0">
                <a:solidFill>
                  <a:srgbClr val="17191D"/>
                </a:solidFill>
                <a:latin typeface="Hiragino Sans GB"/>
                <a:ea typeface="Hiragino Sans GB"/>
                <a:cs typeface="Hiragino Sans GB"/>
              </a:rPr>
              <a:t>所有命令退出码为 0；没有把跳过的测试当作通过；构建产物不含秘密。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F3803CF-5B9E-413E-B3D2-CC7BAF6FD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3810000"/>
            <a:ext cx="9163050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F4F6F8"/>
          </a:solidFill>
          <a:ln xmlns:a="http://schemas.openxmlformats.org/drawingml/2006/main" w="9525">
            <a:solidFill>
              <a:srgbClr val="D9DEE4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82E6707-B852-4D77-A491-78FEC3A1A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3962400"/>
            <a:ext cx="87820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F667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75" b="0">
                <a:solidFill>
                  <a:srgbClr val="5F6670"/>
                </a:solidFill>
                <a:latin typeface="Hiragino Sans GB"/>
                <a:ea typeface="Hiragino Sans GB"/>
                <a:cs typeface="Hiragino Sans GB"/>
              </a:rPr>
              <a:t>本地冒烟：三个终端依次运行 yarn chain、yarn deploy、yarn start；浏览器打开根路径 /。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0026FE4-531F-4991-89C7-3D4B6B305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4667250"/>
            <a:ext cx="9163050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2528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2EAB3F3-94D0-49E0-8237-ED338E36E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4791075"/>
            <a:ext cx="10953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9A9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1">
                <a:solidFill>
                  <a:srgbClr val="FF9A9B"/>
                </a:solidFill>
                <a:latin typeface="Hiragino Sans GB"/>
                <a:ea typeface="Hiragino Sans GB"/>
                <a:cs typeface="Hiragino Sans GB"/>
              </a:rPr>
              <a:t>复制给 AI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5A24CE3-7EA2-44E1-8673-68C31D837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5067300"/>
            <a:ext cx="8820150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75" b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rPr>
              <a:t>请依次运行 yarn hardhat:compile、yarn hardhat:test、yarn ci:contracts、yarn next:check-types、yarn next:build。只报告 PASSED / FAILED / BLOCKED / NOT_RUN，并附失败命令与最小错误摘要。</a:t>
            </a:r>
          </a:p>
        </p:txBody>
      </p:sp>
    </p:spTree>
    <p:extLst>
      <p:ext uri="{BB962C8B-B14F-4D97-AF65-F5344CB8AC3E}">
        <p14:creationId xmlns:p14="http://schemas.microsoft.com/office/powerpoint/2010/main" val="626125066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B1CCE7D-786E-41F6-BA05-0249CA06E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52425"/>
            <a:ext cx="10144125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191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550" b="1">
                <a:solidFill>
                  <a:srgbClr val="17191D"/>
                </a:solidFill>
                <a:latin typeface="Hiragino Sans GB"/>
                <a:ea typeface="Hiragino Sans GB"/>
                <a:cs typeface="Hiragino Sans GB"/>
              </a:rPr>
              <a:t>部署分工：AI 发起流程，学员掌握密码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5E966F6-9BE9-4C16-9AAF-B2F7A3D19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428625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E84142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1">
                <a:solidFill>
                  <a:srgbClr val="E84142"/>
                </a:solidFill>
                <a:latin typeface="Hiragino Sans GB"/>
                <a:ea typeface="Hiragino Sans GB"/>
                <a:cs typeface="Hiragino Sans GB"/>
              </a:rPr>
              <a:t>13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60732AB-AEDA-4042-A48D-93E0662C7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981075"/>
            <a:ext cx="110299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61E14BF-0B0C-4E34-9F0E-D63D30849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29375"/>
            <a:ext cx="723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F667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75" b="1">
                <a:solidFill>
                  <a:srgbClr val="5F6670"/>
                </a:solidFill>
                <a:latin typeface="Hiragino Sans GB"/>
                <a:ea typeface="Hiragino Sans GB"/>
                <a:cs typeface="Hiragino Sans GB"/>
              </a:rPr>
              <a:t>学员流程 · 上链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C2F3554-2083-46D2-9719-508CC776C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6429375"/>
            <a:ext cx="2952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F667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75" b="0">
                <a:solidFill>
                  <a:srgbClr val="5F6670"/>
                </a:solidFill>
                <a:latin typeface="Hiragino Sans GB"/>
                <a:ea typeface="Hiragino Sans GB"/>
                <a:cs typeface="Hiragino Sans GB"/>
              </a:rPr>
              <a:t>Fuji Testnet · 测试资产无价值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A7A45C2-4B23-4C06-9BE5-A2EB989CE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238250"/>
            <a:ext cx="914400" cy="2352675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E8414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E308C5B-C20C-44A5-A647-B658D6BA0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381125"/>
            <a:ext cx="666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55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rPr>
              <a:t>07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87B0F46-A35C-48BF-927A-975BCC889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1285875"/>
            <a:ext cx="40576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7191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75" b="1">
                <a:solidFill>
                  <a:srgbClr val="17191D"/>
                </a:solidFill>
                <a:latin typeface="Hiragino Sans GB"/>
                <a:ea typeface="Hiragino Sans GB"/>
                <a:cs typeface="Hiragino Sans GB"/>
              </a:rPr>
              <a:t>发起 Fuji 部署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367A10B-D036-49B6-98A2-11A7F722E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1781175"/>
            <a:ext cx="6286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E84142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25" b="1">
                <a:solidFill>
                  <a:srgbClr val="E84142"/>
                </a:solidFill>
                <a:latin typeface="Hiragino Sans GB"/>
                <a:ea typeface="Hiragino Sans GB"/>
                <a:cs typeface="Hiragino Sans GB"/>
              </a:rPr>
              <a:t>操作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A8E07E4-7A43-40F8-8000-77E7B6731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1752600"/>
            <a:ext cx="3429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191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0">
                <a:solidFill>
                  <a:srgbClr val="17191D"/>
                </a:solidFill>
                <a:latin typeface="Hiragino Sans GB"/>
                <a:ea typeface="Hiragino Sans GB"/>
                <a:cs typeface="Hiragino Sans GB"/>
              </a:rPr>
              <a:t>确认网络为 Fuji、Chain ID 43113；AI 运行部署命令并等待交互。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1E6F4D1-C408-4118-97A2-D706674B3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2495550"/>
            <a:ext cx="6286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E8E5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25" b="1">
                <a:solidFill>
                  <a:srgbClr val="1E8E5A"/>
                </a:solidFill>
                <a:latin typeface="Hiragino Sans GB"/>
                <a:ea typeface="Hiragino Sans GB"/>
                <a:cs typeface="Hiragino Sans GB"/>
              </a:rPr>
              <a:t>检查点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D90CB61-6518-4778-A064-8624C9102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2466975"/>
            <a:ext cx="342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191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0">
                <a:solidFill>
                  <a:srgbClr val="17191D"/>
                </a:solidFill>
                <a:latin typeface="Hiragino Sans GB"/>
                <a:ea typeface="Hiragino Sans GB"/>
                <a:cs typeface="Hiragino Sans GB"/>
              </a:rPr>
              <a:t>终端显示 Fuji；部署钱包只有少量测试 AVAX；没有主网地址。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3F0AD2A-AD62-47AA-8825-330AD41F4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285875"/>
            <a:ext cx="5429250" cy="2257425"/>
          </a:xfrm>
          <a:prstGeom xmlns:a="http://schemas.openxmlformats.org/drawingml/2006/main" prst="roundRect">
            <a:avLst>
              <a:gd name="adj" fmla="val 3376"/>
            </a:avLst>
          </a:prstGeom>
          <a:solidFill xmlns:a="http://schemas.openxmlformats.org/drawingml/2006/main">
            <a:srgbClr val="2528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742CA21-3CA6-4E17-8224-E23D22B03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1409700"/>
            <a:ext cx="10953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9A9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1">
                <a:solidFill>
                  <a:srgbClr val="FF9A9B"/>
                </a:solidFill>
                <a:latin typeface="Hiragino Sans GB"/>
                <a:ea typeface="Hiragino Sans GB"/>
                <a:cs typeface="Hiragino Sans GB"/>
              </a:rPr>
              <a:t>复制给 AI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FEE857D-FBAB-41C9-9900-A57FE4B32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1685925"/>
            <a:ext cx="5086350" cy="1733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75" b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rPr>
              <a:t>检查 Fuji 配置和部署账户余额，然后运行 yarn deploy --network fuji。遇到加密账户密码提示时停下等我操作，不要读取或输出任何秘密。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D1CF20F-4AC2-408D-AC14-74C9627EC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733800"/>
            <a:ext cx="914400" cy="2352675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1719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983C6FB-0A1C-4AD9-AC49-6ED8FED7D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876675"/>
            <a:ext cx="666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55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rPr>
              <a:t>08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C11EC7B-0FBD-4661-9DEE-EB24613D6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3781425"/>
            <a:ext cx="40576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7191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75" b="1">
                <a:solidFill>
                  <a:srgbClr val="17191D"/>
                </a:solidFill>
                <a:latin typeface="Hiragino Sans GB"/>
                <a:ea typeface="Hiragino Sans GB"/>
                <a:cs typeface="Hiragino Sans GB"/>
              </a:rPr>
              <a:t>本机输入部署密码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3FB261B-3C02-4A0D-AF78-04DF0EE77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4276725"/>
            <a:ext cx="6286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E84142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25" b="1">
                <a:solidFill>
                  <a:srgbClr val="E84142"/>
                </a:solidFill>
                <a:latin typeface="Hiragino Sans GB"/>
                <a:ea typeface="Hiragino Sans GB"/>
                <a:cs typeface="Hiragino Sans GB"/>
              </a:rPr>
              <a:t>操作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ADE4413-DECB-4F3A-9BDF-47E5C3EC0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4248150"/>
            <a:ext cx="3429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191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0">
                <a:solidFill>
                  <a:srgbClr val="17191D"/>
                </a:solidFill>
                <a:latin typeface="Hiragino Sans GB"/>
                <a:ea typeface="Hiragino Sans GB"/>
                <a:cs typeface="Hiragino Sans GB"/>
              </a:rPr>
              <a:t>学员在自己设备输入隔离测试账户的加密密码；Hardhat 仅在内存中签名。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703CB86-41B4-43A2-9946-B1260E93B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4991100"/>
            <a:ext cx="6286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E8E5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25" b="1">
                <a:solidFill>
                  <a:srgbClr val="1E8E5A"/>
                </a:solidFill>
                <a:latin typeface="Hiragino Sans GB"/>
                <a:ea typeface="Hiragino Sans GB"/>
                <a:cs typeface="Hiragino Sans GB"/>
              </a:rPr>
              <a:t>检查点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081C3AF-0DDF-44A8-B1ED-3A64797C4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4962525"/>
            <a:ext cx="342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191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0">
                <a:solidFill>
                  <a:srgbClr val="17191D"/>
                </a:solidFill>
                <a:latin typeface="Hiragino Sans GB"/>
                <a:ea typeface="Hiragino Sans GB"/>
                <a:cs typeface="Hiragino Sans GB"/>
              </a:rPr>
              <a:t>聊天、终端回显、截图、Git diff 中都没有助记词或私钥。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EA5B605-0EA2-4500-A930-671DEE7CC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781425"/>
            <a:ext cx="5429250" cy="2257425"/>
          </a:xfrm>
          <a:prstGeom xmlns:a="http://schemas.openxmlformats.org/drawingml/2006/main" prst="roundRect">
            <a:avLst>
              <a:gd name="adj" fmla="val 3376"/>
            </a:avLst>
          </a:prstGeom>
          <a:solidFill xmlns:a="http://schemas.openxmlformats.org/drawingml/2006/main">
            <a:srgbClr val="2528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F092503-D3B3-4194-B693-DA59AA575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905250"/>
            <a:ext cx="10953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9A9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1">
                <a:solidFill>
                  <a:srgbClr val="FF9A9B"/>
                </a:solidFill>
                <a:latin typeface="Hiragino Sans GB"/>
                <a:ea typeface="Hiragino Sans GB"/>
                <a:cs typeface="Hiragino Sans GB"/>
              </a:rPr>
              <a:t>复制给 AI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426DAAB-53B4-494D-A7CC-184C942B1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4181475"/>
            <a:ext cx="5086350" cy="1733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75" b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rPr>
              <a:t>我会在本机输入隔离测试账户的加密密码，Hardhat 只在内存中签名。你只继续观察公开交易状态；不要要求我粘贴任何秘密。</a:t>
            </a:r>
          </a:p>
        </p:txBody>
      </p:sp>
    </p:spTree>
    <p:extLst>
      <p:ext uri="{BB962C8B-B14F-4D97-AF65-F5344CB8AC3E}">
        <p14:creationId xmlns:p14="http://schemas.microsoft.com/office/powerpoint/2010/main" val="437221446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463F483-2434-4095-B792-244E28D3C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52425"/>
            <a:ext cx="10144125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191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550" b="1">
                <a:solidFill>
                  <a:srgbClr val="17191D"/>
                </a:solidFill>
                <a:latin typeface="Hiragino Sans GB"/>
                <a:ea typeface="Hiragino Sans GB"/>
                <a:cs typeface="Hiragino Sans GB"/>
              </a:rPr>
              <a:t>第 9 步：部署结果自动成为前端配置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CE75DD9-14D0-4A8E-8C34-F1673A45E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428625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E84142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1">
                <a:solidFill>
                  <a:srgbClr val="E84142"/>
                </a:solidFill>
                <a:latin typeface="Hiragino Sans GB"/>
                <a:ea typeface="Hiragino Sans GB"/>
                <a:cs typeface="Hiragino Sans GB"/>
              </a:rPr>
              <a:t>14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94E16CE-E4D6-477B-8DFD-A498923BA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981075"/>
            <a:ext cx="110299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C1A394A-9C08-4E3F-9F4B-8872722D2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29375"/>
            <a:ext cx="723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F667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75" b="1">
                <a:solidFill>
                  <a:srgbClr val="5F6670"/>
                </a:solidFill>
                <a:latin typeface="Hiragino Sans GB"/>
                <a:ea typeface="Hiragino Sans GB"/>
                <a:cs typeface="Hiragino Sans GB"/>
              </a:rPr>
              <a:t>学员流程 · 上链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B3DA69E-4646-41D1-8255-FF7DB7937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6429375"/>
            <a:ext cx="2952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F667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75" b="0">
                <a:solidFill>
                  <a:srgbClr val="5F6670"/>
                </a:solidFill>
                <a:latin typeface="Hiragino Sans GB"/>
                <a:ea typeface="Hiragino Sans GB"/>
                <a:cs typeface="Hiragino Sans GB"/>
              </a:rPr>
              <a:t>Fuji Testnet · 测试资产无价值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35D796B-C945-420E-BC41-09E52B749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343025"/>
            <a:ext cx="1162050" cy="4324350"/>
          </a:xfrm>
          <a:prstGeom xmlns:a="http://schemas.openxmlformats.org/drawingml/2006/main" prst="roundRect">
            <a:avLst>
              <a:gd name="adj" fmla="val 6557"/>
            </a:avLst>
          </a:prstGeom>
          <a:solidFill xmlns:a="http://schemas.openxmlformats.org/drawingml/2006/main">
            <a:srgbClr val="E8414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A750FE4-8D9A-43AA-80A8-0BE279CCA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590675"/>
            <a:ext cx="7810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30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30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rPr>
              <a:t>09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C4639FB-345C-4C30-AD92-D46AAD081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1381125"/>
            <a:ext cx="4953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191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250" b="1">
                <a:solidFill>
                  <a:srgbClr val="17191D"/>
                </a:solidFill>
                <a:latin typeface="Hiragino Sans GB"/>
                <a:ea typeface="Hiragino Sans GB"/>
                <a:cs typeface="Hiragino Sans GB"/>
              </a:rPr>
              <a:t>同步 ABI 与地址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8DA450F-21AA-45B6-8582-411F375D1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2095500"/>
            <a:ext cx="742950" cy="304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E8414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95B58E4-D2CA-4815-808D-5A946626D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2143125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rPr>
              <a:t>操作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EE05065-AC0E-4F55-8588-726EC9A29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2085975"/>
            <a:ext cx="823912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191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0">
                <a:solidFill>
                  <a:srgbClr val="17191D"/>
                </a:solidFill>
                <a:latin typeface="Hiragino Sans GB"/>
                <a:ea typeface="Hiragino Sans GB"/>
                <a:cs typeface="Hiragino Sans GB"/>
              </a:rPr>
              <a:t>部署脚本生成 packages/nextjs/contracts/deployedContracts.ts，前端从同一份记录读取合约。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42FD711-C1B0-49FE-9AFE-6F01EE798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3000375"/>
            <a:ext cx="876300" cy="304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1E8E5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B459683-50F4-4D18-A65F-970C0343C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3048000"/>
            <a:ext cx="685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rPr>
              <a:t>检查点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5B78E5A-F6FC-4F01-B10E-561B1DA17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33725" y="2990850"/>
            <a:ext cx="81057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191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0">
                <a:solidFill>
                  <a:srgbClr val="17191D"/>
                </a:solidFill>
                <a:latin typeface="Hiragino Sans GB"/>
                <a:ea typeface="Hiragino Sans GB"/>
                <a:cs typeface="Hiragino Sans GB"/>
              </a:rPr>
              <a:t>文件包含 Chain ID 43113、新合约地址和匹配 ABI；网页链接指向 Fuji Explorer。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8F09F7B-3342-4954-B934-707B546A0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3810000"/>
            <a:ext cx="9163050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F4F6F8"/>
          </a:solidFill>
          <a:ln xmlns:a="http://schemas.openxmlformats.org/drawingml/2006/main" w="9525">
            <a:solidFill>
              <a:srgbClr val="D9DEE4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9472CA6-6E33-4649-9D75-2F0C71A85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3962400"/>
            <a:ext cx="87820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F667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75" b="0">
                <a:solidFill>
                  <a:srgbClr val="5F6670"/>
                </a:solidFill>
                <a:latin typeface="Hiragino Sans GB"/>
                <a:ea typeface="Hiragino Sans GB"/>
                <a:cs typeface="Hiragino Sans GB"/>
              </a:rPr>
              <a:t>为什么自动生成：地址和 ABI 来自同一次部署，可减少复制错误，也避免前端继续调用旧函数。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1E69AB5-D5CD-45B7-8616-000822105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4667250"/>
            <a:ext cx="9163050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2528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FD35526-F606-4495-8CE4-3EEAA464A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4791075"/>
            <a:ext cx="10953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9A9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1">
                <a:solidFill>
                  <a:srgbClr val="FF9A9B"/>
                </a:solidFill>
                <a:latin typeface="Hiragino Sans GB"/>
                <a:ea typeface="Hiragino Sans GB"/>
                <a:cs typeface="Hiragino Sans GB"/>
              </a:rPr>
              <a:t>复制给 AI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170B6FE-D59A-4A4D-A22A-EF2578060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5067300"/>
            <a:ext cx="8820150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75" b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rPr>
              <a:t>检查部署输出和 deployedContracts.ts。确认 chainId 是 43113、地址与部署回执一致、ABI 包含本次改动。不要手工复制长 ABI；若生成失败，先修部署流程。</a:t>
            </a:r>
          </a:p>
        </p:txBody>
      </p:sp>
    </p:spTree>
    <p:extLst>
      <p:ext uri="{BB962C8B-B14F-4D97-AF65-F5344CB8AC3E}">
        <p14:creationId xmlns:p14="http://schemas.microsoft.com/office/powerpoint/2010/main" val="738510886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D7EF587-18CF-4F94-826B-A1747460D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52425"/>
            <a:ext cx="10144125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191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550" b="1">
                <a:solidFill>
                  <a:srgbClr val="17191D"/>
                </a:solidFill>
                <a:latin typeface="Hiragino Sans GB"/>
                <a:ea typeface="Hiragino Sans GB"/>
                <a:cs typeface="Hiragino Sans GB"/>
              </a:rPr>
              <a:t>第 10 步：发布前审查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C1EC5F6-0371-4311-B374-CE8159983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428625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E84142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1">
                <a:solidFill>
                  <a:srgbClr val="E84142"/>
                </a:solidFill>
                <a:latin typeface="Hiragino Sans GB"/>
                <a:ea typeface="Hiragino Sans GB"/>
                <a:cs typeface="Hiragino Sans GB"/>
              </a:rPr>
              <a:t>15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E693089-014F-493C-8570-38DC879E2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981075"/>
            <a:ext cx="110299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C27D35A-4453-41D2-A88E-2B5FC05C3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29375"/>
            <a:ext cx="723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F667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75" b="1">
                <a:solidFill>
                  <a:srgbClr val="5F6670"/>
                </a:solidFill>
                <a:latin typeface="Hiragino Sans GB"/>
                <a:ea typeface="Hiragino Sans GB"/>
                <a:cs typeface="Hiragino Sans GB"/>
              </a:rPr>
              <a:t>学员流程 · 发布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579FB2A-E3D0-4410-9206-E32AD1859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6429375"/>
            <a:ext cx="2952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F667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75" b="0">
                <a:solidFill>
                  <a:srgbClr val="5F6670"/>
                </a:solidFill>
                <a:latin typeface="Hiragino Sans GB"/>
                <a:ea typeface="Hiragino Sans GB"/>
                <a:cs typeface="Hiragino Sans GB"/>
              </a:rPr>
              <a:t>Fuji Testnet · 测试资产无价值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7669C00-7004-4ED6-A741-78CA6E5E1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343025"/>
            <a:ext cx="1162050" cy="4324350"/>
          </a:xfrm>
          <a:prstGeom xmlns:a="http://schemas.openxmlformats.org/drawingml/2006/main" prst="roundRect">
            <a:avLst>
              <a:gd name="adj" fmla="val 6557"/>
            </a:avLst>
          </a:prstGeom>
          <a:solidFill xmlns:a="http://schemas.openxmlformats.org/drawingml/2006/main">
            <a:srgbClr val="1719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BF15FF5-EE30-4C09-8819-4071CBA70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590675"/>
            <a:ext cx="7810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30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30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rPr>
              <a:t>10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27EE2CE-E6FA-4AF7-81C5-7C8FA8562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1381125"/>
            <a:ext cx="4953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191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250" b="1">
                <a:solidFill>
                  <a:srgbClr val="17191D"/>
                </a:solidFill>
                <a:latin typeface="Hiragino Sans GB"/>
                <a:ea typeface="Hiragino Sans GB"/>
                <a:cs typeface="Hiragino Sans GB"/>
              </a:rPr>
              <a:t>AI 做发布前审查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D4D1815-5482-40A6-8B42-BA123F400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2095500"/>
            <a:ext cx="742950" cy="304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E8414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F73097D-E4B9-41E2-8874-CC80C4096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2143125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rPr>
              <a:t>操作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E273231-CD94-4EC4-A059-EF0CA24E1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2085975"/>
            <a:ext cx="823912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191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0">
                <a:solidFill>
                  <a:srgbClr val="17191D"/>
                </a:solidFill>
                <a:latin typeface="Hiragino Sans GB"/>
                <a:ea typeface="Hiragino Sans GB"/>
                <a:cs typeface="Hiragino Sans GB"/>
              </a:rPr>
              <a:t>查看 git status、完整 diff、未跟踪文件和忽略规则；扫描钱包与部署材料。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2897456-D5A8-4188-9E77-23E8CB0E8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3000375"/>
            <a:ext cx="876300" cy="304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1E8E5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9870190-C75D-4187-9CB2-9A9C6DF66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3048000"/>
            <a:ext cx="685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rPr>
              <a:t>检查点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1E25448-3D83-4523-8D4B-2AD544205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33725" y="2990850"/>
            <a:ext cx="81057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191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0">
                <a:solidFill>
                  <a:srgbClr val="17191D"/>
                </a:solidFill>
                <a:latin typeface="Hiragino Sans GB"/>
                <a:ea typeface="Hiragino Sans GB"/>
                <a:cs typeface="Hiragino Sans GB"/>
              </a:rPr>
              <a:t>提交范围只含需求、测试和生成的公开 ABI/地址；没有 .env、私钥、助记词、密码或账户文件。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1393679-9BF0-4329-8983-A4E224797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3810000"/>
            <a:ext cx="9163050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F4F6F8"/>
          </a:solidFill>
          <a:ln xmlns:a="http://schemas.openxmlformats.org/drawingml/2006/main" w="9525">
            <a:solidFill>
              <a:srgbClr val="D9DEE4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D36D936-C555-414C-B8C5-37D5EB2FC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3962400"/>
            <a:ext cx="87820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F667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75" b="0">
                <a:solidFill>
                  <a:srgbClr val="5F6670"/>
                </a:solidFill>
                <a:latin typeface="Hiragino Sans GB"/>
                <a:ea typeface="Hiragino Sans GB"/>
                <a:cs typeface="Hiragino Sans GB"/>
              </a:rPr>
              <a:t>高风险文件：.env*、部署账户 JSON、助记词、私钥、访问令牌、截图中的钱包信息、包含真实身份的钱包名单。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C9F1F2D-C7E8-4B07-B3A4-A6BB125B5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4667250"/>
            <a:ext cx="9163050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2528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0147073-FFDF-4EF3-AB47-AC92076A5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4791075"/>
            <a:ext cx="10953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9A9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1">
                <a:solidFill>
                  <a:srgbClr val="FF9A9B"/>
                </a:solidFill>
                <a:latin typeface="Hiragino Sans GB"/>
                <a:ea typeface="Hiragino Sans GB"/>
                <a:cs typeface="Hiragino Sans GB"/>
              </a:rPr>
              <a:t>复制给 AI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EC9EC0A-E977-40C2-A08D-E43618E4E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5067300"/>
            <a:ext cx="8820150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75" b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rPr>
              <a:t>请审查 git status 和完整 diff，再做秘密扫描。不要打印任何秘密值，只报告可疑文件路径、变量名和风险。列出计划提交与必须排除的文件，然后停下等我确认。</a:t>
            </a:r>
          </a:p>
        </p:txBody>
      </p:sp>
    </p:spTree>
    <p:extLst>
      <p:ext uri="{BB962C8B-B14F-4D97-AF65-F5344CB8AC3E}">
        <p14:creationId xmlns:p14="http://schemas.microsoft.com/office/powerpoint/2010/main" val="750066997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D9C7246-5FC4-4EA7-BF94-543B96329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52425"/>
            <a:ext cx="10144125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191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550" b="1">
                <a:solidFill>
                  <a:srgbClr val="17191D"/>
                </a:solidFill>
                <a:latin typeface="Hiragino Sans GB"/>
                <a:ea typeface="Hiragino Sans GB"/>
                <a:cs typeface="Hiragino Sans GB"/>
              </a:rPr>
              <a:t>发布：人确认代码边界，平台验证构建结果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0D024A6-3E08-4D06-81C4-12E4172BE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428625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E84142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1">
                <a:solidFill>
                  <a:srgbClr val="E84142"/>
                </a:solidFill>
                <a:latin typeface="Hiragino Sans GB"/>
                <a:ea typeface="Hiragino Sans GB"/>
                <a:cs typeface="Hiragino Sans GB"/>
              </a:rPr>
              <a:t>16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C17AF03-2541-4193-AD0D-A8B202EEE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981075"/>
            <a:ext cx="110299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36377F8-9442-421C-9050-23D1FD8F9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29375"/>
            <a:ext cx="723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F667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75" b="1">
                <a:solidFill>
                  <a:srgbClr val="5F6670"/>
                </a:solidFill>
                <a:latin typeface="Hiragino Sans GB"/>
                <a:ea typeface="Hiragino Sans GB"/>
                <a:cs typeface="Hiragino Sans GB"/>
              </a:rPr>
              <a:t>学员流程 · 发布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1F6CEC8-B387-4A92-A127-54C7052F9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6429375"/>
            <a:ext cx="2952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F667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75" b="0">
                <a:solidFill>
                  <a:srgbClr val="5F6670"/>
                </a:solidFill>
                <a:latin typeface="Hiragino Sans GB"/>
                <a:ea typeface="Hiragino Sans GB"/>
                <a:cs typeface="Hiragino Sans GB"/>
              </a:rPr>
              <a:t>Fuji Testnet · 测试资产无价值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FBB4AFC-5D4C-4285-9FEE-BEB8FBC15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238250"/>
            <a:ext cx="914400" cy="2352675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E8414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EF6484D-F9B1-4153-A329-E1D5434EB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381125"/>
            <a:ext cx="666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55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rPr>
              <a:t>11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9F3F82A-388C-4BEE-9A0C-CB2A5F606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1285875"/>
            <a:ext cx="40576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7191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75" b="1">
                <a:solidFill>
                  <a:srgbClr val="17191D"/>
                </a:solidFill>
                <a:latin typeface="Hiragino Sans GB"/>
                <a:ea typeface="Hiragino Sans GB"/>
                <a:cs typeface="Hiragino Sans GB"/>
              </a:rPr>
              <a:t>授权后 commit / push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75434D9-7082-4FA2-BBC2-F05356480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1781175"/>
            <a:ext cx="6286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E84142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25" b="1">
                <a:solidFill>
                  <a:srgbClr val="E84142"/>
                </a:solidFill>
                <a:latin typeface="Hiragino Sans GB"/>
                <a:ea typeface="Hiragino Sans GB"/>
                <a:cs typeface="Hiragino Sans GB"/>
              </a:rPr>
              <a:t>操作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64209F0-36D9-4371-BD62-6851E1D09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1752600"/>
            <a:ext cx="3429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191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0">
                <a:solidFill>
                  <a:srgbClr val="17191D"/>
                </a:solidFill>
                <a:latin typeface="Hiragino Sans GB"/>
                <a:ea typeface="Hiragino Sans GB"/>
                <a:cs typeface="Hiragino Sans GB"/>
              </a:rPr>
              <a:t>AI 先展示提交文件和英文 commit message；学员明确回复允许后再执行。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9DBC13B-3DF8-4D05-A1CC-51851E3CF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2495550"/>
            <a:ext cx="6286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E8E5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25" b="1">
                <a:solidFill>
                  <a:srgbClr val="1E8E5A"/>
                </a:solidFill>
                <a:latin typeface="Hiragino Sans GB"/>
                <a:ea typeface="Hiragino Sans GB"/>
                <a:cs typeface="Hiragino Sans GB"/>
              </a:rPr>
              <a:t>检查点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C396DC7-D88A-4864-B8CD-41AE789A6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2466975"/>
            <a:ext cx="342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191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0">
                <a:solidFill>
                  <a:srgbClr val="17191D"/>
                </a:solidFill>
                <a:latin typeface="Hiragino Sans GB"/>
                <a:ea typeface="Hiragino Sans GB"/>
                <a:cs typeface="Hiragino Sans GB"/>
              </a:rPr>
              <a:t>GitHub 显示新提交；没有 force push；远端仓库属于学员账号。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408A7C4-618F-4901-A898-4B41D05F9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285875"/>
            <a:ext cx="5429250" cy="2257425"/>
          </a:xfrm>
          <a:prstGeom xmlns:a="http://schemas.openxmlformats.org/drawingml/2006/main" prst="roundRect">
            <a:avLst>
              <a:gd name="adj" fmla="val 3376"/>
            </a:avLst>
          </a:prstGeom>
          <a:solidFill xmlns:a="http://schemas.openxmlformats.org/drawingml/2006/main">
            <a:srgbClr val="2528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694C5D9-91B7-472D-9AA3-0D1DA2989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1409700"/>
            <a:ext cx="10953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9A9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1">
                <a:solidFill>
                  <a:srgbClr val="FF9A9B"/>
                </a:solidFill>
                <a:latin typeface="Hiragino Sans GB"/>
                <a:ea typeface="Hiragino Sans GB"/>
                <a:cs typeface="Hiragino Sans GB"/>
              </a:rPr>
              <a:t>复制给 AI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C0CA73B-3225-4653-9829-6C94852E5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1685925"/>
            <a:ext cx="5086350" cy="1733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75" b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rPr>
              <a:t>先展示将提交的文件、diff 摘要和英文 commit message。不要提交或推送。等我回复“允许提交并推送”后，再执行普通 commit 和 push，禁止 force push。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A5A4902-CE38-4847-8279-F62529718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733800"/>
            <a:ext cx="914400" cy="2352675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1719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1563300-9CFD-42FC-AB53-55BD5BA69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876675"/>
            <a:ext cx="666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55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rPr>
              <a:t>12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04DE64F-28C0-49AA-A080-9EC8BB8EB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3781425"/>
            <a:ext cx="40576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7191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75" b="1">
                <a:solidFill>
                  <a:srgbClr val="17191D"/>
                </a:solidFill>
                <a:latin typeface="Hiragino Sans GB"/>
                <a:ea typeface="Hiragino Sans GB"/>
                <a:cs typeface="Hiragino Sans GB"/>
              </a:rPr>
              <a:t>Actions 通过后发布 Vercel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C8C989B-B7AC-4B96-A406-6F8BDC808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4276725"/>
            <a:ext cx="6286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E84142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25" b="1">
                <a:solidFill>
                  <a:srgbClr val="E84142"/>
                </a:solidFill>
                <a:latin typeface="Hiragino Sans GB"/>
                <a:ea typeface="Hiragino Sans GB"/>
                <a:cs typeface="Hiragino Sans GB"/>
              </a:rPr>
              <a:t>操作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B778D09-659B-471D-83D5-6E72E0238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4248150"/>
            <a:ext cx="3429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191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0">
                <a:solidFill>
                  <a:srgbClr val="17191D"/>
                </a:solidFill>
                <a:latin typeface="Hiragino Sans GB"/>
                <a:ea typeface="Hiragino Sans GB"/>
                <a:cs typeface="Hiragino Sans GB"/>
              </a:rPr>
              <a:t>等待 GitHub Actions 全绿；在 Vercel 导入仓库，Root Directory 选择仓库根目录。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E249970-8AB2-4986-8C9F-136B34419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4991100"/>
            <a:ext cx="6286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E8E5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25" b="1">
                <a:solidFill>
                  <a:srgbClr val="1E8E5A"/>
                </a:solidFill>
                <a:latin typeface="Hiragino Sans GB"/>
                <a:ea typeface="Hiragino Sans GB"/>
                <a:cs typeface="Hiragino Sans GB"/>
              </a:rPr>
              <a:t>检查点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761F5A5-521B-4372-B6D3-57F6E1C61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4962525"/>
            <a:ext cx="342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191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0">
                <a:solidFill>
                  <a:srgbClr val="17191D"/>
                </a:solidFill>
                <a:latin typeface="Hiragino Sans GB"/>
                <a:ea typeface="Hiragino Sans GB"/>
                <a:cs typeface="Hiragino Sans GB"/>
              </a:rPr>
              <a:t>CI 通过；Vercel build 成功；Production URL 可公开访问。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C63B3F1-0595-4036-97BA-17F38E20E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781425"/>
            <a:ext cx="5429250" cy="2257425"/>
          </a:xfrm>
          <a:prstGeom xmlns:a="http://schemas.openxmlformats.org/drawingml/2006/main" prst="roundRect">
            <a:avLst>
              <a:gd name="adj" fmla="val 3376"/>
            </a:avLst>
          </a:prstGeom>
          <a:solidFill xmlns:a="http://schemas.openxmlformats.org/drawingml/2006/main">
            <a:srgbClr val="2528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EA5DD80-531A-4BFE-843C-42A49DDB5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905250"/>
            <a:ext cx="10953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9A9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1">
                <a:solidFill>
                  <a:srgbClr val="FF9A9B"/>
                </a:solidFill>
                <a:latin typeface="Hiragino Sans GB"/>
                <a:ea typeface="Hiragino Sans GB"/>
                <a:cs typeface="Hiragino Sans GB"/>
              </a:rPr>
              <a:t>复制给 AI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23D5584-D846-4983-A419-326A46267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4181475"/>
            <a:ext cx="5086350" cy="1733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75" b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rPr>
              <a:t>检查本次 GitHub Actions。若失败，定位根因并提出最小修复；全部通过后，按 README 从仓库根目录运行 yarn vercel，或配置 yarn next:build。未经我确认不要改线上环境变量。</a:t>
            </a:r>
          </a:p>
        </p:txBody>
      </p:sp>
    </p:spTree>
    <p:extLst>
      <p:ext uri="{BB962C8B-B14F-4D97-AF65-F5344CB8AC3E}">
        <p14:creationId xmlns:p14="http://schemas.microsoft.com/office/powerpoint/2010/main" val="422161022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1244F08-E81C-4B5E-BF73-00D938ABB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52425"/>
            <a:ext cx="10144125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191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550" b="1">
                <a:solidFill>
                  <a:srgbClr val="17191D"/>
                </a:solidFill>
                <a:latin typeface="Hiragino Sans GB"/>
                <a:ea typeface="Hiragino Sans GB"/>
                <a:cs typeface="Hiragino Sans GB"/>
              </a:rPr>
              <a:t>第 13 步：网页、链和 Explorer 三方对账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BCD9779-C558-410C-A04A-E78CAB3EC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428625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E84142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1">
                <a:solidFill>
                  <a:srgbClr val="E84142"/>
                </a:solidFill>
                <a:latin typeface="Hiragino Sans GB"/>
                <a:ea typeface="Hiragino Sans GB"/>
                <a:cs typeface="Hiragino Sans GB"/>
              </a:rPr>
              <a:t>17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FD77CA7-8184-46FD-B38E-3D178F698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981075"/>
            <a:ext cx="110299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30214C1-4A8E-4A95-831F-39ECAE67C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29375"/>
            <a:ext cx="723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F667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75" b="1">
                <a:solidFill>
                  <a:srgbClr val="5F6670"/>
                </a:solidFill>
                <a:latin typeface="Hiragino Sans GB"/>
                <a:ea typeface="Hiragino Sans GB"/>
                <a:cs typeface="Hiragino Sans GB"/>
              </a:rPr>
              <a:t>学员流程 · 验收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E5F4FA0-3ABF-487D-A143-0161322DC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6429375"/>
            <a:ext cx="2952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F667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75" b="0">
                <a:solidFill>
                  <a:srgbClr val="5F6670"/>
                </a:solidFill>
                <a:latin typeface="Hiragino Sans GB"/>
                <a:ea typeface="Hiragino Sans GB"/>
                <a:cs typeface="Hiragino Sans GB"/>
              </a:rPr>
              <a:t>Fuji Testnet · 测试资产无价值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18AE464-75FF-48E2-BB36-D57E6D749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343025"/>
            <a:ext cx="1162050" cy="4324350"/>
          </a:xfrm>
          <a:prstGeom xmlns:a="http://schemas.openxmlformats.org/drawingml/2006/main" prst="roundRect">
            <a:avLst>
              <a:gd name="adj" fmla="val 6557"/>
            </a:avLst>
          </a:prstGeom>
          <a:solidFill xmlns:a="http://schemas.openxmlformats.org/drawingml/2006/main">
            <a:srgbClr val="E8414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5B791A1-ED8E-47A9-8B0B-0E3F5DB89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590675"/>
            <a:ext cx="7810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30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30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rPr>
              <a:t>13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2CDD4F6-89E3-48BC-ADAC-48241040F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1381125"/>
            <a:ext cx="4953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191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250" b="1">
                <a:solidFill>
                  <a:srgbClr val="17191D"/>
                </a:solidFill>
                <a:latin typeface="Hiragino Sans GB"/>
                <a:ea typeface="Hiragino Sans GB"/>
                <a:cs typeface="Hiragino Sans GB"/>
              </a:rPr>
              <a:t>完成端到端验证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A19DBE9-6D42-41F6-A77D-8A028CD5F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2095500"/>
            <a:ext cx="742950" cy="304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E8414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A45D332-FA31-4CE0-A526-0DA350084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2143125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rPr>
              <a:t>操作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3F48BC5-0AD3-4D83-B0F6-70BEB650D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2085975"/>
            <a:ext cx="823912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191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0">
                <a:solidFill>
                  <a:srgbClr val="17191D"/>
                </a:solidFill>
                <a:latin typeface="Hiragino Sans GB"/>
                <a:ea typeface="Hiragino Sans GB"/>
                <a:cs typeface="Hiragino Sans GB"/>
              </a:rPr>
              <a:t>打开线上页面，连接 Fuji 测试钱包，依次完成 Claim、Approve、Add、Swap、Remove。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69110EC-99D3-4C11-8C31-96BFE7DE3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3000375"/>
            <a:ext cx="876300" cy="304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1E8E5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D0E452A-9718-4826-9CB9-D39693180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3048000"/>
            <a:ext cx="685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rPr>
              <a:t>检查点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AEE26A7-C09F-4C2C-AE34-BA1AE07E3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33725" y="2990850"/>
            <a:ext cx="81057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191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0">
                <a:solidFill>
                  <a:srgbClr val="17191D"/>
                </a:solidFill>
                <a:latin typeface="Hiragino Sans GB"/>
                <a:ea typeface="Hiragino Sans GB"/>
                <a:cs typeface="Hiragino Sans GB"/>
              </a:rPr>
              <a:t>每步都有成功状态或交易哈希；储备与 k 合理变化；Explorer 的合约、钱包和交易都属于 Fuji。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27C79F1-4BEA-473F-AB5D-3943D11E3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3810000"/>
            <a:ext cx="9163050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F4F6F8"/>
          </a:solidFill>
          <a:ln xmlns:a="http://schemas.openxmlformats.org/drawingml/2006/main" w="9525">
            <a:solidFill>
              <a:srgbClr val="D9DEE4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BADB526-4EB7-4B7F-9293-F79C68DCB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3962400"/>
            <a:ext cx="87820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F667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75" b="0">
                <a:solidFill>
                  <a:srgbClr val="5F6670"/>
                </a:solidFill>
                <a:latin typeface="Hiragino Sans GB"/>
                <a:ea typeface="Hiragino Sans GB"/>
                <a:cs typeface="Hiragino Sans GB"/>
              </a:rPr>
              <a:t>最终交付证据：GitHub 仓库链接 · Actions 绿色记录 · Fuji 合约地址 · 至少一笔 Swap 哈希 · Vercel URL。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6937EE5-D8D1-4812-A47B-8A1E123D0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4667250"/>
            <a:ext cx="9163050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2528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455808B-50CE-493A-B459-E7FB11D63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4791075"/>
            <a:ext cx="10953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9A9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1">
                <a:solidFill>
                  <a:srgbClr val="FF9A9B"/>
                </a:solidFill>
                <a:latin typeface="Hiragino Sans GB"/>
                <a:ea typeface="Hiragino Sans GB"/>
                <a:cs typeface="Hiragino Sans GB"/>
              </a:rPr>
              <a:t>复制给 AI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36DA49C-5914-4386-887D-5E9E4FBCF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5067300"/>
            <a:ext cx="8820150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75" b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rPr>
              <a:t>请对线上 URL 做端到端验收：确认网络 43113，并验证 Claim、Approve、Add Liquidity、Swap、Remove Liquidity。逐项给出 PASSED / FAILED / BLOCKED / NOT_RUN，附公开交易哈希或 Explorer 链接；不要泄露钱包秘密。</a:t>
            </a:r>
          </a:p>
        </p:txBody>
      </p:sp>
    </p:spTree>
    <p:extLst>
      <p:ext uri="{BB962C8B-B14F-4D97-AF65-F5344CB8AC3E}">
        <p14:creationId xmlns:p14="http://schemas.microsoft.com/office/powerpoint/2010/main" val="206961259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D2FF491-A562-407F-8FA7-2E0CF089C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52425"/>
            <a:ext cx="10144125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191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550" b="1">
                <a:solidFill>
                  <a:srgbClr val="17191D"/>
                </a:solidFill>
                <a:latin typeface="Hiragino Sans GB"/>
                <a:ea typeface="Hiragino Sans GB"/>
                <a:cs typeface="Hiragino Sans GB"/>
              </a:rPr>
              <a:t>常见故障：先判断发生在哪一层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7A72FB5-6E28-4D49-AAB9-98A8A113B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428625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E84142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1">
                <a:solidFill>
                  <a:srgbClr val="E84142"/>
                </a:solidFill>
                <a:latin typeface="Hiragino Sans GB"/>
                <a:ea typeface="Hiragino Sans GB"/>
                <a:cs typeface="Hiragino Sans GB"/>
              </a:rPr>
              <a:t>18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F8F5DCF-9F0F-467C-B125-347780E58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981075"/>
            <a:ext cx="110299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880AE93-1696-4F91-8A8A-8A9C85374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29375"/>
            <a:ext cx="723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F667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75" b="1">
                <a:solidFill>
                  <a:srgbClr val="5F6670"/>
                </a:solidFill>
                <a:latin typeface="Hiragino Sans GB"/>
                <a:ea typeface="Hiragino Sans GB"/>
                <a:cs typeface="Hiragino Sans GB"/>
              </a:rPr>
              <a:t>排障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146AFA6-CA04-44B7-BFE9-D45BB6894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6429375"/>
            <a:ext cx="2952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F667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75" b="0">
                <a:solidFill>
                  <a:srgbClr val="5F6670"/>
                </a:solidFill>
                <a:latin typeface="Hiragino Sans GB"/>
                <a:ea typeface="Hiragino Sans GB"/>
                <a:cs typeface="Hiragino Sans GB"/>
              </a:rPr>
              <a:t>Fuji Testnet · 测试资产无价值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073D578-F40E-46A4-973C-12934ADD5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81125"/>
            <a:ext cx="266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F667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75" b="1">
                <a:solidFill>
                  <a:srgbClr val="5F6670"/>
                </a:solidFill>
                <a:latin typeface="Hiragino Sans GB"/>
                <a:ea typeface="Hiragino Sans GB"/>
                <a:cs typeface="Hiragino Sans GB"/>
              </a:rPr>
              <a:t>现象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AB48319-E5AD-4F22-87B5-71C3FA857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1381125"/>
            <a:ext cx="200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F667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75" b="1">
                <a:solidFill>
                  <a:srgbClr val="5F6670"/>
                </a:solidFill>
                <a:latin typeface="Hiragino Sans GB"/>
                <a:ea typeface="Hiragino Sans GB"/>
                <a:cs typeface="Hiragino Sans GB"/>
              </a:rPr>
              <a:t>层级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BF9C1C1-ED9D-4E61-A1D5-99BB8FB11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381125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F667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75" b="1">
                <a:solidFill>
                  <a:srgbClr val="5F6670"/>
                </a:solidFill>
                <a:latin typeface="Hiragino Sans GB"/>
                <a:ea typeface="Hiragino Sans GB"/>
                <a:cs typeface="Hiragino Sans GB"/>
              </a:rPr>
              <a:t>第一步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65CD871-07FD-48B1-B1E3-B1D5D44B4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762125"/>
            <a:ext cx="1102995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4F6F8"/>
          </a:solidFill>
          <a:ln xmlns:a="http://schemas.openxmlformats.org/drawingml/2006/main" w="9525">
            <a:solidFill>
              <a:srgbClr val="D9DEE4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2B63E1B-9E5F-4785-96E1-3F38F1FE3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895475"/>
            <a:ext cx="2762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7191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425" b="1">
                <a:solidFill>
                  <a:srgbClr val="17191D"/>
                </a:solidFill>
                <a:latin typeface="Hiragino Sans GB"/>
                <a:ea typeface="Hiragino Sans GB"/>
                <a:cs typeface="Hiragino Sans GB"/>
              </a:rPr>
              <a:t>钱包不弹窗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56A0051-FC75-40AD-BCAC-EA51E8273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1895475"/>
            <a:ext cx="200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B92B2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0">
                <a:solidFill>
                  <a:srgbClr val="B92B2F"/>
                </a:solidFill>
                <a:latin typeface="Hiragino Sans GB"/>
                <a:ea typeface="Hiragino Sans GB"/>
                <a:cs typeface="Hiragino Sans GB"/>
              </a:rPr>
              <a:t>网络或连接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4FA8400-1724-4EAD-A116-968542206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895475"/>
            <a:ext cx="495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191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0">
                <a:solidFill>
                  <a:srgbClr val="17191D"/>
                </a:solidFill>
                <a:latin typeface="Hiragino Sans GB"/>
                <a:ea typeface="Hiragino Sans GB"/>
                <a:cs typeface="Hiragino Sans GB"/>
              </a:rPr>
              <a:t>确认 Fuji 43113；断开后重连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C9BC171-50DA-4323-95B8-DDB60462C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447925"/>
            <a:ext cx="1102995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4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26DD0D6-C948-43FD-9A59-A5A5906B8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581275"/>
            <a:ext cx="2762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7191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425" b="1">
                <a:solidFill>
                  <a:srgbClr val="17191D"/>
                </a:solidFill>
                <a:latin typeface="Hiragino Sans GB"/>
                <a:ea typeface="Hiragino Sans GB"/>
                <a:cs typeface="Hiragino Sans GB"/>
              </a:rPr>
              <a:t>余额不足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90BD1C0-7382-4215-9CA5-01471E3B0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2581275"/>
            <a:ext cx="200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B92B2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0">
                <a:solidFill>
                  <a:srgbClr val="B92B2F"/>
                </a:solidFill>
                <a:latin typeface="Hiragino Sans GB"/>
                <a:ea typeface="Hiragino Sans GB"/>
                <a:cs typeface="Hiragino Sans GB"/>
              </a:rPr>
              <a:t>测试币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01116C6-6C08-4C86-977F-BE1585F0A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581275"/>
            <a:ext cx="495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191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0">
                <a:solidFill>
                  <a:srgbClr val="17191D"/>
                </a:solidFill>
                <a:latin typeface="Hiragino Sans GB"/>
                <a:ea typeface="Hiragino Sans GB"/>
                <a:cs typeface="Hiragino Sans GB"/>
              </a:rPr>
              <a:t>用官方 Faucet 获取少量测试 AVAX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80B31C1-4459-4EB8-AEDD-C524C8482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133725"/>
            <a:ext cx="1102995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4F6F8"/>
          </a:solidFill>
          <a:ln xmlns:a="http://schemas.openxmlformats.org/drawingml/2006/main" w="9525">
            <a:solidFill>
              <a:srgbClr val="D9DEE4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FB1D70B-05AF-4433-8A0D-B86DD4A1B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267075"/>
            <a:ext cx="2762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7191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425" b="1">
                <a:solidFill>
                  <a:srgbClr val="17191D"/>
                </a:solidFill>
                <a:latin typeface="Hiragino Sans GB"/>
                <a:ea typeface="Hiragino Sans GB"/>
                <a:cs typeface="Hiragino Sans GB"/>
              </a:rPr>
              <a:t>测试失败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EC0D720-3766-4747-AE69-81799579B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3267075"/>
            <a:ext cx="200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B92B2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0">
                <a:solidFill>
                  <a:srgbClr val="B92B2F"/>
                </a:solidFill>
                <a:latin typeface="Hiragino Sans GB"/>
                <a:ea typeface="Hiragino Sans GB"/>
                <a:cs typeface="Hiragino Sans GB"/>
              </a:rPr>
              <a:t>代码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9630A83-E4D7-4E8F-9584-D2AD8B2A6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267075"/>
            <a:ext cx="495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191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0">
                <a:solidFill>
                  <a:srgbClr val="17191D"/>
                </a:solidFill>
                <a:latin typeface="Hiragino Sans GB"/>
                <a:ea typeface="Hiragino Sans GB"/>
                <a:cs typeface="Hiragino Sans GB"/>
              </a:rPr>
              <a:t>先运行单个测试；不要绕过断言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BCCD551-B81B-4D29-881F-3C10402D5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819525"/>
            <a:ext cx="1102995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4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2025B80-6345-4D7A-A28E-5AC8D7203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952875"/>
            <a:ext cx="2762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7191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425" b="1">
                <a:solidFill>
                  <a:srgbClr val="17191D"/>
                </a:solidFill>
                <a:latin typeface="Hiragino Sans GB"/>
                <a:ea typeface="Hiragino Sans GB"/>
                <a:cs typeface="Hiragino Sans GB"/>
              </a:rPr>
              <a:t>部署 reverted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38C9D53-769F-450E-95E8-C67EDC926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3952875"/>
            <a:ext cx="200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B92B2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0">
                <a:solidFill>
                  <a:srgbClr val="B92B2F"/>
                </a:solidFill>
                <a:latin typeface="Hiragino Sans GB"/>
                <a:ea typeface="Hiragino Sans GB"/>
                <a:cs typeface="Hiragino Sans GB"/>
              </a:rPr>
              <a:t>合约或参数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A67C6D5-2E9D-4FF3-87B9-DF07399AF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952875"/>
            <a:ext cx="495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191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0">
                <a:solidFill>
                  <a:srgbClr val="17191D"/>
                </a:solidFill>
                <a:latin typeface="Hiragino Sans GB"/>
                <a:ea typeface="Hiragino Sans GB"/>
                <a:cs typeface="Hiragino Sans GB"/>
              </a:rPr>
              <a:t>读取错误原因与构造参数；保留交易哈希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C13B1A0-95F6-44A1-8E96-43A744A63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505325"/>
            <a:ext cx="1102995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4F6F8"/>
          </a:solidFill>
          <a:ln xmlns:a="http://schemas.openxmlformats.org/drawingml/2006/main" w="9525">
            <a:solidFill>
              <a:srgbClr val="D9DEE4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E3E3A89-68A2-4B5D-BC1D-8C5397CDE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638675"/>
            <a:ext cx="2762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7191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425" b="1">
                <a:solidFill>
                  <a:srgbClr val="17191D"/>
                </a:solidFill>
                <a:latin typeface="Hiragino Sans GB"/>
                <a:ea typeface="Hiragino Sans GB"/>
                <a:cs typeface="Hiragino Sans GB"/>
              </a:rPr>
              <a:t>页面找不到合约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40C0FF3-7CA8-4B51-BBD4-7D0F2738C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4638675"/>
            <a:ext cx="200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B92B2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0">
                <a:solidFill>
                  <a:srgbClr val="B92B2F"/>
                </a:solidFill>
                <a:latin typeface="Hiragino Sans GB"/>
                <a:ea typeface="Hiragino Sans GB"/>
                <a:cs typeface="Hiragino Sans GB"/>
              </a:rPr>
              <a:t>ABI / 地址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7F5E06F-2C18-4BE6-9A2E-34A83C51E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638675"/>
            <a:ext cx="495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191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0">
                <a:solidFill>
                  <a:srgbClr val="17191D"/>
                </a:solidFill>
                <a:latin typeface="Hiragino Sans GB"/>
                <a:ea typeface="Hiragino Sans GB"/>
                <a:cs typeface="Hiragino Sans GB"/>
              </a:rPr>
              <a:t>核对 deployedContracts.ts 的 43113 与地址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1DF16BE-ED1A-4B17-A74F-77A9F5558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191125"/>
            <a:ext cx="1102995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4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FC61A1B-55E6-4D66-AD8A-8EB6FB7C7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324475"/>
            <a:ext cx="2762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7191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425" b="1">
                <a:solidFill>
                  <a:srgbClr val="17191D"/>
                </a:solidFill>
                <a:latin typeface="Hiragino Sans GB"/>
                <a:ea typeface="Hiragino Sans GB"/>
                <a:cs typeface="Hiragino Sans GB"/>
              </a:rPr>
              <a:t>Vercel 构建失败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28C5170-28D3-460E-A846-E2A3CCC79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5324475"/>
            <a:ext cx="200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B92B2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0">
                <a:solidFill>
                  <a:srgbClr val="B92B2F"/>
                </a:solidFill>
                <a:latin typeface="Hiragino Sans GB"/>
                <a:ea typeface="Hiragino Sans GB"/>
                <a:cs typeface="Hiragino Sans GB"/>
              </a:rPr>
              <a:t>发布配置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9B4095D-013D-4AAE-A579-B71B71AC9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5324475"/>
            <a:ext cx="495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191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0">
                <a:solidFill>
                  <a:srgbClr val="17191D"/>
                </a:solidFill>
                <a:latin typeface="Hiragino Sans GB"/>
                <a:ea typeface="Hiragino Sans GB"/>
                <a:cs typeface="Hiragino Sans GB"/>
              </a:rPr>
              <a:t>检查 Root Directory、Node/Yarn 与构建日志</a:t>
            </a:r>
          </a:p>
        </p:txBody>
      </p:sp>
    </p:spTree>
    <p:extLst>
      <p:ext uri="{BB962C8B-B14F-4D97-AF65-F5344CB8AC3E}">
        <p14:creationId xmlns:p14="http://schemas.microsoft.com/office/powerpoint/2010/main" val="1499188119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C41DBB1-1DE6-4199-9B69-2842FD46D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52425"/>
            <a:ext cx="10144125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191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550" b="1">
                <a:solidFill>
                  <a:srgbClr val="17191D"/>
                </a:solidFill>
                <a:latin typeface="Hiragino Sans GB"/>
                <a:ea typeface="Hiragino Sans GB"/>
                <a:cs typeface="Hiragino Sans GB"/>
              </a:rPr>
              <a:t>合约挑战菜单与评价标准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64F4479-4278-4798-B19E-D8579655C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428625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E84142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1">
                <a:solidFill>
                  <a:srgbClr val="E84142"/>
                </a:solidFill>
                <a:latin typeface="Hiragino Sans GB"/>
                <a:ea typeface="Hiragino Sans GB"/>
                <a:cs typeface="Hiragino Sans GB"/>
              </a:rPr>
              <a:t>19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D383AD9-239F-4C98-8D64-8A897406A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981075"/>
            <a:ext cx="110299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B71FF9E-A2BC-4ADB-AB79-E97A6B66B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29375"/>
            <a:ext cx="723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F667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75" b="1">
                <a:solidFill>
                  <a:srgbClr val="5F6670"/>
                </a:solidFill>
                <a:latin typeface="Hiragino Sans GB"/>
                <a:ea typeface="Hiragino Sans GB"/>
                <a:cs typeface="Hiragino Sans GB"/>
              </a:rPr>
              <a:t>课堂挑战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6D5390B-4162-4B28-BB29-B7DD54E7A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6429375"/>
            <a:ext cx="2952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F667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75" b="0">
                <a:solidFill>
                  <a:srgbClr val="5F6670"/>
                </a:solidFill>
                <a:latin typeface="Hiragino Sans GB"/>
                <a:ea typeface="Hiragino Sans GB"/>
                <a:cs typeface="Hiragino Sans GB"/>
              </a:rPr>
              <a:t>Fuji Testnet · 测试资产无价值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D656DCF-94D0-4995-8789-A6A88FCD9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247775"/>
            <a:ext cx="7143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F667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0">
                <a:solidFill>
                  <a:srgbClr val="5F6670"/>
                </a:solidFill>
                <a:latin typeface="Hiragino Sans GB"/>
                <a:ea typeface="Hiragino Sans GB"/>
                <a:cs typeface="Hiragino Sans GB"/>
              </a:rPr>
              <a:t>只选一个需求，完整走完测试与发布流程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C10891C-7ACB-401B-A7F9-FCDCDC591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924050"/>
            <a:ext cx="5143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E84142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250" b="1">
                <a:solidFill>
                  <a:srgbClr val="E84142"/>
                </a:solidFill>
                <a:latin typeface="Hiragino Sans GB"/>
                <a:ea typeface="Hiragino Sans GB"/>
                <a:cs typeface="Hiragino Sans GB"/>
              </a:rPr>
              <a:t>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11FDB25-C132-4AE7-8D69-C47A8C38F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1943100"/>
            <a:ext cx="19526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191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1">
                <a:solidFill>
                  <a:srgbClr val="17191D"/>
                </a:solidFill>
                <a:latin typeface="Hiragino Sans GB"/>
                <a:ea typeface="Hiragino Sans GB"/>
                <a:cs typeface="Hiragino Sans GB"/>
              </a:rPr>
              <a:t>手续费实验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51B342E-C7A3-4116-9653-58BC0FA49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1962150"/>
            <a:ext cx="619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F667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0">
                <a:solidFill>
                  <a:srgbClr val="5F6670"/>
                </a:solidFill>
                <a:latin typeface="Hiragino Sans GB"/>
                <a:ea typeface="Hiragino Sans GB"/>
                <a:cs typeface="Hiragino Sans GB"/>
              </a:rPr>
              <a:t>比较 0.3% 与自定义费率的 amountOut 和 k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0C201A4-DA2D-4DAA-B90E-E98AF0D71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714625"/>
            <a:ext cx="5143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191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250" b="1">
                <a:solidFill>
                  <a:srgbClr val="17191D"/>
                </a:solidFill>
                <a:latin typeface="Hiragino Sans GB"/>
                <a:ea typeface="Hiragino Sans GB"/>
                <a:cs typeface="Hiragino Sans GB"/>
              </a:rPr>
              <a:t>B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9C06A10-760B-4931-9B3D-DC1866BE9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733675"/>
            <a:ext cx="19526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191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1">
                <a:solidFill>
                  <a:srgbClr val="17191D"/>
                </a:solidFill>
                <a:latin typeface="Hiragino Sans GB"/>
                <a:ea typeface="Hiragino Sans GB"/>
                <a:cs typeface="Hiragino Sans GB"/>
              </a:rPr>
              <a:t>Claim 数量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76A19F5-3238-4BE9-8637-C4F964DDB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2752725"/>
            <a:ext cx="619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F667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0">
                <a:solidFill>
                  <a:srgbClr val="5F6670"/>
                </a:solidFill>
                <a:latin typeface="Hiragino Sans GB"/>
                <a:ea typeface="Hiragino Sans GB"/>
                <a:cs typeface="Hiragino Sans GB"/>
              </a:rPr>
              <a:t>改变领取数量，并讨论每地址一次的边界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F23D5EC-6992-4F4B-9DC6-9A17F2D24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505200"/>
            <a:ext cx="5143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191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250" b="1">
                <a:solidFill>
                  <a:srgbClr val="17191D"/>
                </a:solidFill>
                <a:latin typeface="Hiragino Sans GB"/>
                <a:ea typeface="Hiragino Sans GB"/>
                <a:cs typeface="Hiragino Sans GB"/>
              </a:rPr>
              <a:t>C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851A19A-AFC3-4D3F-9D12-5B1B52A1E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524250"/>
            <a:ext cx="19526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191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1">
                <a:solidFill>
                  <a:srgbClr val="17191D"/>
                </a:solidFill>
                <a:latin typeface="Hiragino Sans GB"/>
                <a:ea typeface="Hiragino Sans GB"/>
                <a:cs typeface="Hiragino Sans GB"/>
              </a:rPr>
              <a:t>Claim 规则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A533BD6-82A8-44ED-8B22-975B519DE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3543300"/>
            <a:ext cx="619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F667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0">
                <a:solidFill>
                  <a:srgbClr val="5F6670"/>
                </a:solidFill>
                <a:latin typeface="Hiragino Sans GB"/>
                <a:ea typeface="Hiragino Sans GB"/>
                <a:cs typeface="Hiragino Sans GB"/>
              </a:rPr>
              <a:t>修改领取条件，并用失败测试说明新规则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139D8AB-EE06-4C7C-96A6-A8A478929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95775"/>
            <a:ext cx="5143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191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250" b="1">
                <a:solidFill>
                  <a:srgbClr val="17191D"/>
                </a:solidFill>
                <a:latin typeface="Hiragino Sans GB"/>
                <a:ea typeface="Hiragino Sans GB"/>
                <a:cs typeface="Hiragino Sans GB"/>
              </a:rPr>
              <a:t>D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457521E-51C1-43B4-8B37-1CD36B4C3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314825"/>
            <a:ext cx="19526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191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1">
                <a:solidFill>
                  <a:srgbClr val="17191D"/>
                </a:solidFill>
                <a:latin typeface="Hiragino Sans GB"/>
                <a:ea typeface="Hiragino Sans GB"/>
                <a:cs typeface="Hiragino Sans GB"/>
              </a:rPr>
              <a:t>单笔限额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777AE43-D1C4-44F5-B873-359183247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4333875"/>
            <a:ext cx="619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F667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0">
                <a:solidFill>
                  <a:srgbClr val="5F6670"/>
                </a:solidFill>
                <a:latin typeface="Hiragino Sans GB"/>
                <a:ea typeface="Hiragino Sans GB"/>
                <a:cs typeface="Hiragino Sans GB"/>
              </a:rPr>
              <a:t>超过阈值时 revert，并给出可读错误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7514243-BFCA-4EA3-BEA7-FFDF0FB46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257800"/>
            <a:ext cx="1102995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1719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7BD6BE0-2799-45E4-AE25-B26228C92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467350"/>
            <a:ext cx="1524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FB2B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75" b="1">
                <a:solidFill>
                  <a:srgbClr val="FFB2B3"/>
                </a:solidFill>
                <a:latin typeface="Hiragino Sans GB"/>
                <a:ea typeface="Hiragino Sans GB"/>
                <a:cs typeface="Hiragino Sans GB"/>
              </a:rPr>
              <a:t>评分看证据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1B44DC1-0A7B-4B00-9C97-AAC68C8ED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5457825"/>
            <a:ext cx="876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425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rPr>
              <a:t>需求清楚 · 失败测试真实 · 合约改动最小 · 质量门禁通过 · Fuji 与网页均可验证</a:t>
            </a:r>
          </a:p>
        </p:txBody>
      </p:sp>
    </p:spTree>
    <p:extLst>
      <p:ext uri="{BB962C8B-B14F-4D97-AF65-F5344CB8AC3E}">
        <p14:creationId xmlns:p14="http://schemas.microsoft.com/office/powerpoint/2010/main" val="225608112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17191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6F2F2AA-E2EC-4913-9A7F-9B70568C3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28625"/>
            <a:ext cx="8572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70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rPr>
              <a:t>资源与最终交付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B4C4D96-F2D3-4ADB-B214-1F056409F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95300"/>
            <a:ext cx="571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FF9A9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1">
                <a:solidFill>
                  <a:srgbClr val="FF9A9B"/>
                </a:solidFill>
                <a:latin typeface="Hiragino Sans GB"/>
                <a:ea typeface="Hiragino Sans GB"/>
                <a:cs typeface="Hiragino Sans GB"/>
              </a:rPr>
              <a:t>20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97426F6-22A7-4B4E-91CE-F92F05A79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25730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9A9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75" b="1">
                <a:solidFill>
                  <a:srgbClr val="FF9A9B"/>
                </a:solidFill>
                <a:latin typeface="Hiragino Sans GB"/>
                <a:ea typeface="Hiragino Sans GB"/>
                <a:cs typeface="Hiragino Sans GB"/>
              </a:rPr>
              <a:t>课程仓库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2A12F0D-3F1C-4297-8B96-B2BE3CB5C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1257300"/>
            <a:ext cx="85725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https://github.com/0xherstory/fuji-v2-amm-course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3B14511-1E33-49E1-AFC0-E11DB7F8D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724025"/>
            <a:ext cx="104203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1454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A825891-A982-40E1-8E01-F25461896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94310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9A9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75" b="1">
                <a:solidFill>
                  <a:srgbClr val="FF9A9B"/>
                </a:solidFill>
                <a:latin typeface="Hiragino Sans GB"/>
                <a:ea typeface="Hiragino Sans GB"/>
                <a:cs typeface="Hiragino Sans GB"/>
              </a:rPr>
              <a:t>Fuji 参数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56715C5-C36B-49E0-8174-3375A1D64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1943100"/>
            <a:ext cx="85725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https://build.avax.network/docs/primary-network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56BDF64-7359-4D7D-BE17-F1A5C781E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409825"/>
            <a:ext cx="104203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1454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B7A681B-1875-4D20-8838-588BBBA73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62890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9A9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75" b="1">
                <a:solidFill>
                  <a:srgbClr val="FF9A9B"/>
                </a:solidFill>
                <a:latin typeface="Hiragino Sans GB"/>
                <a:ea typeface="Hiragino Sans GB"/>
                <a:cs typeface="Hiragino Sans GB"/>
              </a:rPr>
              <a:t>测试 AVAX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7AC84FE-A601-4D2C-83C9-7836F9941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2628900"/>
            <a:ext cx="85725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https://build.avax.network/console/primary-network/faucet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B208357-2D67-48E7-96F4-062DD9385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095625"/>
            <a:ext cx="104203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1454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CB8D2C2-F846-48F9-AFBE-8E7A314FC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31470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9A9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75" b="1">
                <a:solidFill>
                  <a:srgbClr val="FF9A9B"/>
                </a:solidFill>
                <a:latin typeface="Hiragino Sans GB"/>
                <a:ea typeface="Hiragino Sans GB"/>
                <a:cs typeface="Hiragino Sans GB"/>
              </a:rPr>
              <a:t>Fuji Explorer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F877CDB-A858-4147-BB8A-CA3BEC1F5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3314700"/>
            <a:ext cx="85725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https://explorer-test.avax.network/c-chain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EE11244-1317-43CA-8544-975C838CB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781425"/>
            <a:ext cx="104203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1454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F0C6DCB-09A1-441B-A7E3-90EEE1440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00050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9A9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75" b="1">
                <a:solidFill>
                  <a:srgbClr val="FF9A9B"/>
                </a:solidFill>
                <a:latin typeface="Hiragino Sans GB"/>
                <a:ea typeface="Hiragino Sans GB"/>
                <a:cs typeface="Hiragino Sans GB"/>
              </a:rPr>
              <a:t>Uniswap V2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27992B4-4D05-4922-9A8A-D9049F457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4000500"/>
            <a:ext cx="85725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https://developers.uniswap.org/docs/protocols/v2/overview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3C322D6-F4D3-4D3D-9449-6EB841D90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467225"/>
            <a:ext cx="104203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1454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919631A-6D5D-4B5E-9B88-54DB2CC1A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68630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9A9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75" b="1">
                <a:solidFill>
                  <a:srgbClr val="FF9A9B"/>
                </a:solidFill>
                <a:latin typeface="Hiragino Sans GB"/>
                <a:ea typeface="Hiragino Sans GB"/>
                <a:cs typeface="Hiragino Sans GB"/>
              </a:rPr>
              <a:t>Vercel 发布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7A89876-553B-4FCA-893D-371FFB5FF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4686300"/>
            <a:ext cx="85725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https://vercel.com/docs/git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9608B7A-5E5A-45CD-8E03-BB6BAC802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153025"/>
            <a:ext cx="104203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1454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C46884E-5A75-4E2C-A437-666A8F071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610225"/>
            <a:ext cx="10420350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E8414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E2985A8-1AE8-4767-B252-CF33DDD21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781675"/>
            <a:ext cx="99631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0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rPr>
              <a:t>带走三样东西：合约地址、代码仓库、在线 DApp</a:t>
            </a:r>
          </a:p>
        </p:txBody>
      </p:sp>
    </p:spTree>
    <p:extLst>
      <p:ext uri="{BB962C8B-B14F-4D97-AF65-F5344CB8AC3E}">
        <p14:creationId xmlns:p14="http://schemas.microsoft.com/office/powerpoint/2010/main" val="125655967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2026-09-05T17:12:29.7960000Z</dcterms:created>
  <dcterms:modified xsi:type="dcterms:W3CDTF">2026-09-05T17:12:29.7960000Z</dcterms:modified>
</coreProperties>
</file>